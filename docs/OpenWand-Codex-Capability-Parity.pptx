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a3d05baa2409b" /><Relationship Type="http://schemas.openxmlformats.org/officeDocument/2006/relationships/extended-properties" Target="/docProps/app.xml" Id="R4993e6f09ca84665" /><Relationship Type="http://schemas.openxmlformats.org/officeDocument/2006/relationships/officeDocument" Target="/ppt/presentation.xml" Id="Ra32adc31253647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2f9e3b30348f7"/>
  </p:sldMasterIdLst>
  <p:notesMasterIdLst>
    <p:notesMasterId xmlns:r="http://schemas.openxmlformats.org/officeDocument/2006/relationships" r:id="Rc879eab73d09476e"/>
  </p:notesMasterIdLst>
  <p:sldIdLst>
    <p:sldId xmlns:r="http://schemas.openxmlformats.org/officeDocument/2006/relationships" id="256" r:id="R8301865601824a97"/>
    <p:sldId xmlns:r="http://schemas.openxmlformats.org/officeDocument/2006/relationships" id="257" r:id="R41946272b0e34f2f"/>
    <p:sldId xmlns:r="http://schemas.openxmlformats.org/officeDocument/2006/relationships" id="258" r:id="R23726e037fe84778"/>
    <p:sldId xmlns:r="http://schemas.openxmlformats.org/officeDocument/2006/relationships" id="259" r:id="Re7e3b03a9f3e4bcf"/>
    <p:sldId xmlns:r="http://schemas.openxmlformats.org/officeDocument/2006/relationships" id="260" r:id="Rffb8158bf262404f"/>
    <p:sldId xmlns:r="http://schemas.openxmlformats.org/officeDocument/2006/relationships" id="261" r:id="Rdaa21530941a43dd"/>
    <p:sldId xmlns:r="http://schemas.openxmlformats.org/officeDocument/2006/relationships" id="262" r:id="R17b0cbd93b2d4f41"/>
    <p:sldId xmlns:r="http://schemas.openxmlformats.org/officeDocument/2006/relationships" id="263" r:id="Rbb85db0a653a4899"/>
    <p:sldId xmlns:r="http://schemas.openxmlformats.org/officeDocument/2006/relationships" id="264" r:id="R7a9b9e4e3f8b4a6c"/>
    <p:sldId xmlns:r="http://schemas.openxmlformats.org/officeDocument/2006/relationships" id="265" r:id="R8b2597e3e8c4440c"/>
    <p:sldId xmlns:r="http://schemas.openxmlformats.org/officeDocument/2006/relationships" id="266" r:id="Rf001188e12e340ee"/>
    <p:sldId xmlns:r="http://schemas.openxmlformats.org/officeDocument/2006/relationships" id="267" r:id="Rf604005e22eb4bdd"/>
    <p:sldId xmlns:r="http://schemas.openxmlformats.org/officeDocument/2006/relationships" id="268" r:id="R837ecf3375034377"/>
    <p:sldId xmlns:r="http://schemas.openxmlformats.org/officeDocument/2006/relationships" id="269" r:id="Rd775ed2314734a99"/>
    <p:sldId xmlns:r="http://schemas.openxmlformats.org/officeDocument/2006/relationships" id="270" r:id="R99bab99c75304777"/>
    <p:sldId xmlns:r="http://schemas.openxmlformats.org/officeDocument/2006/relationships" id="271" r:id="Rabe1e89692354299"/>
    <p:sldId xmlns:r="http://schemas.openxmlformats.org/officeDocument/2006/relationships" id="272" r:id="Rd5b2ed7db70d4b9a"/>
    <p:sldId xmlns:r="http://schemas.openxmlformats.org/officeDocument/2006/relationships" id="273" r:id="R82d0c629587b40e6"/>
    <p:sldId xmlns:r="http://schemas.openxmlformats.org/officeDocument/2006/relationships" id="274" r:id="R36d8e019aff94ed1"/>
    <p:sldId xmlns:r="http://schemas.openxmlformats.org/officeDocument/2006/relationships" id="275" r:id="Rd4089f27394048fd"/>
    <p:sldId xmlns:r="http://schemas.openxmlformats.org/officeDocument/2006/relationships" id="276" r:id="Rc41421c99c0c4804"/>
    <p:sldId xmlns:r="http://schemas.openxmlformats.org/officeDocument/2006/relationships" id="277" r:id="R1fa066fe6fe2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03390dc4ec48dc" /><Relationship Type="http://schemas.openxmlformats.org/officeDocument/2006/relationships/slideMaster" Target="/ppt/slideMasters/slideMaster1.xml" Id="Ra502f9e3b30348f7" /><Relationship Type="http://schemas.openxmlformats.org/officeDocument/2006/relationships/notesMaster" Target="/ppt/notesMasters/notesMaster1.xml" Id="Rc879eab73d09476e" /><Relationship Type="http://schemas.openxmlformats.org/officeDocument/2006/relationships/presProps" Target="/ppt/presProps.xml" Id="R8b3217387cc348a5" /><Relationship Type="http://schemas.openxmlformats.org/officeDocument/2006/relationships/tableStyles" Target="/ppt/tableStyles.xml" Id="Rfea4020bf0d14cfb" /><Relationship Type="http://schemas.openxmlformats.org/officeDocument/2006/relationships/slide" Target="/ppt/slides/slide1.xml" Id="R8301865601824a97" /><Relationship Type="http://schemas.openxmlformats.org/officeDocument/2006/relationships/slide" Target="/ppt/slides/slide2.xml" Id="R41946272b0e34f2f" /><Relationship Type="http://schemas.openxmlformats.org/officeDocument/2006/relationships/slide" Target="/ppt/slides/slide3.xml" Id="R23726e037fe84778" /><Relationship Type="http://schemas.openxmlformats.org/officeDocument/2006/relationships/slide" Target="/ppt/slides/slide4.xml" Id="Re7e3b03a9f3e4bcf" /><Relationship Type="http://schemas.openxmlformats.org/officeDocument/2006/relationships/slide" Target="/ppt/slides/slide5.xml" Id="Rffb8158bf262404f" /><Relationship Type="http://schemas.openxmlformats.org/officeDocument/2006/relationships/slide" Target="/ppt/slides/slide6.xml" Id="Rdaa21530941a43dd" /><Relationship Type="http://schemas.openxmlformats.org/officeDocument/2006/relationships/slide" Target="/ppt/slides/slide7.xml" Id="R17b0cbd93b2d4f41" /><Relationship Type="http://schemas.openxmlformats.org/officeDocument/2006/relationships/slide" Target="/ppt/slides/slide8.xml" Id="Rbb85db0a653a4899" /><Relationship Type="http://schemas.openxmlformats.org/officeDocument/2006/relationships/slide" Target="/ppt/slides/slide9.xml" Id="R7a9b9e4e3f8b4a6c" /><Relationship Type="http://schemas.openxmlformats.org/officeDocument/2006/relationships/slide" Target="/ppt/slides/slide10.xml" Id="R8b2597e3e8c4440c" /><Relationship Type="http://schemas.openxmlformats.org/officeDocument/2006/relationships/slide" Target="/ppt/slides/slide11.xml" Id="Rf001188e12e340ee" /><Relationship Type="http://schemas.openxmlformats.org/officeDocument/2006/relationships/slide" Target="/ppt/slides/slide12.xml" Id="Rf604005e22eb4bdd" /><Relationship Type="http://schemas.openxmlformats.org/officeDocument/2006/relationships/slide" Target="/ppt/slides/slide13.xml" Id="R837ecf3375034377" /><Relationship Type="http://schemas.openxmlformats.org/officeDocument/2006/relationships/slide" Target="/ppt/slides/slide14.xml" Id="Rd775ed2314734a99" /><Relationship Type="http://schemas.openxmlformats.org/officeDocument/2006/relationships/slide" Target="/ppt/slides/slide15.xml" Id="R99bab99c75304777" /><Relationship Type="http://schemas.openxmlformats.org/officeDocument/2006/relationships/slide" Target="/ppt/slides/slide16.xml" Id="Rabe1e89692354299" /><Relationship Type="http://schemas.openxmlformats.org/officeDocument/2006/relationships/slide" Target="/ppt/slides/slide17.xml" Id="Rd5b2ed7db70d4b9a" /><Relationship Type="http://schemas.openxmlformats.org/officeDocument/2006/relationships/slide" Target="/ppt/slides/slide18.xml" Id="R82d0c629587b40e6" /><Relationship Type="http://schemas.openxmlformats.org/officeDocument/2006/relationships/slide" Target="/ppt/slides/slide19.xml" Id="R36d8e019aff94ed1" /><Relationship Type="http://schemas.openxmlformats.org/officeDocument/2006/relationships/slide" Target="/ppt/slides/slide20.xml" Id="Rd4089f27394048fd" /><Relationship Type="http://schemas.openxmlformats.org/officeDocument/2006/relationships/slide" Target="/ppt/slides/slide21.xml" Id="Rc41421c99c0c4804" /><Relationship Type="http://schemas.openxmlformats.org/officeDocument/2006/relationships/slide" Target="/ppt/slides/slide22.xml" Id="R1fa066fe6fe2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a693a2b4de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8f169d1184479" /><Relationship Type="http://schemas.openxmlformats.org/officeDocument/2006/relationships/notesMaster" Target="/ppt/notesMasters/notesMaster1.xml" Id="Rfe7b725b306d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1175d16c540fa" /><Relationship Type="http://schemas.openxmlformats.org/officeDocument/2006/relationships/notesMaster" Target="/ppt/notesMasters/notesMaster1.xml" Id="Rdf2c16d2e0cc4d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3e04cbf864f5b" /><Relationship Type="http://schemas.openxmlformats.org/officeDocument/2006/relationships/notesMaster" Target="/ppt/notesMasters/notesMaster1.xml" Id="R79d2321c1dbf45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bc1bb2a7b94d92" /><Relationship Type="http://schemas.openxmlformats.org/officeDocument/2006/relationships/notesMaster" Target="/ppt/notesMasters/notesMaster1.xml" Id="R55cff1e45a16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3f3a909944c36" /><Relationship Type="http://schemas.openxmlformats.org/officeDocument/2006/relationships/notesMaster" Target="/ppt/notesMasters/notesMaster1.xml" Id="R7fb16c81b60c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3f663f820432e" /><Relationship Type="http://schemas.openxmlformats.org/officeDocument/2006/relationships/notesMaster" Target="/ppt/notesMasters/notesMaster1.xml" Id="R6af3d73a0ab247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190cfb62640d1" /><Relationship Type="http://schemas.openxmlformats.org/officeDocument/2006/relationships/notesMaster" Target="/ppt/notesMasters/notesMaster1.xml" Id="Rf5dffbc299b74f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3b949e53fa45e0" /><Relationship Type="http://schemas.openxmlformats.org/officeDocument/2006/relationships/notesMaster" Target="/ppt/notesMasters/notesMaster1.xml" Id="R0fafdd3f1c96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a712cf81e44fe" /><Relationship Type="http://schemas.openxmlformats.org/officeDocument/2006/relationships/notesMaster" Target="/ppt/notesMasters/notesMaster1.xml" Id="Rba1b5dd2324c4c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999978ae6421c" /><Relationship Type="http://schemas.openxmlformats.org/officeDocument/2006/relationships/notesMaster" Target="/ppt/notesMasters/notesMaster1.xml" Id="R241eac75d4bb4b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4cf2b52769408b" /><Relationship Type="http://schemas.openxmlformats.org/officeDocument/2006/relationships/notesMaster" Target="/ppt/notesMasters/notesMaster1.xml" Id="R0bf8a7d583dc4f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fee56ca7e84b29" /><Relationship Type="http://schemas.openxmlformats.org/officeDocument/2006/relationships/notesMaster" Target="/ppt/notesMasters/notesMaster1.xml" Id="Rc8ff5d6f28634d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4a1d3b4dec425c" /><Relationship Type="http://schemas.openxmlformats.org/officeDocument/2006/relationships/notesMaster" Target="/ppt/notesMasters/notesMaster1.xml" Id="Rea0daf62caaf4c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db1bcaf1034e8c" /><Relationship Type="http://schemas.openxmlformats.org/officeDocument/2006/relationships/notesMaster" Target="/ppt/notesMasters/notesMaster1.xml" Id="R55130862124b43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50e3e037d042e8" /><Relationship Type="http://schemas.openxmlformats.org/officeDocument/2006/relationships/notesMaster" Target="/ppt/notesMasters/notesMaster1.xml" Id="Rbaebbd391f0043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8a4ef8f24648f2" /><Relationship Type="http://schemas.openxmlformats.org/officeDocument/2006/relationships/notesMaster" Target="/ppt/notesMasters/notesMaster1.xml" Id="R5b2fc8057e8342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dc269ea9394561" /><Relationship Type="http://schemas.openxmlformats.org/officeDocument/2006/relationships/notesMaster" Target="/ppt/notesMasters/notesMaster1.xml" Id="Ra40023eeff4943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c4b0d60aa24193" /><Relationship Type="http://schemas.openxmlformats.org/officeDocument/2006/relationships/notesMaster" Target="/ppt/notesMasters/notesMaster1.xml" Id="Rbc2cf6edaf944a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20641c999248b7" /><Relationship Type="http://schemas.openxmlformats.org/officeDocument/2006/relationships/notesMaster" Target="/ppt/notesMasters/notesMaster1.xml" Id="R96583f00666049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209d6db71b473f" /><Relationship Type="http://schemas.openxmlformats.org/officeDocument/2006/relationships/notesMaster" Target="/ppt/notesMasters/notesMaster1.xml" Id="R530c981004d041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ac90bad45345b0" /><Relationship Type="http://schemas.openxmlformats.org/officeDocument/2006/relationships/notesMaster" Target="/ppt/notesMasters/notesMaster1.xml" Id="R77ecde9241a744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abd8ee497142cc" /><Relationship Type="http://schemas.openxmlformats.org/officeDocument/2006/relationships/notesMaster" Target="/ppt/notesMasters/notesMaster1.xml" Id="R5b139ff36fc747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Frame the deck as an audit of agent capability, not a benchmark of model intelligence.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OpenWand is using Codex through the app-server, so this is not a comparison between two different language models.</a:t>
            </a:r>
          </a:p>
          <a:p xmlns:a="http://schemas.openxmlformats.org/drawingml/2006/main">
            <a:r>
              <a:t>- The comparison is between the complete native Codex experience and the narrower set of capabilities that OpenWand currently exposes.</a:t>
            </a:r>
          </a:p>
          <a:p xmlns:a="http://schemas.openxmlformats.org/drawingml/2006/main">
            <a:r>
              <a:t>- The deck separates reassurance from risk: the core coding loop is strong, while several platform-level features are not yet integrated.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Use 'Codex CLI' as the product name for the native command-line experience. The underlying model may be selected independently.</a:t>
            </a:r>
          </a:p>
          <a:p xmlns:a="http://schemas.openxmlformats.org/drawingml/2006/main">
            <a:r>
              <a:t>- The audit is based on official Codex documentation plus the current OpenWand app-server bridge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This is a point-in-time integration audit. A Codex release or an OpenWand implementation change can move a capability between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Give the audience a map before the detailed capability inventory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Group 1 answers the reassurance question: is the model weaker?</a:t>
            </a:r>
          </a:p>
          <a:p xmlns:a="http://schemas.openxmlformats.org/drawingml/2006/main">
            <a:r>
              <a:t>- Group 2 documents the capability gaps by user-facing workflow.</a:t>
            </a:r>
          </a:p>
          <a:p xmlns:a="http://schemas.openxmlformats.org/drawingml/2006/main">
            <a:r>
              <a:t>- Group 3 handles ambiguous cases where a capability may work underneath OpenWand without being supported as a product feature.</a:t>
            </a:r>
          </a:p>
          <a:p xmlns:a="http://schemas.openxmlformats.org/drawingml/2006/main">
            <a:r>
              <a:t>- Group 4 consolidates the findings into implementation registers.</a:t>
            </a:r>
          </a:p>
          <a:p xmlns:a="http://schemas.openxmlformats.org/drawingml/2006/main">
            <a:r>
              <a:t>- Group 5 turns the audit into a roadmap and a measurable definition of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 section dividers are navigational aids. They also make it easier to present only one group to a specific stakeholder audience.</a:t>
            </a:r>
          </a:p>
          <a:p xmlns:a="http://schemas.openxmlformats.org/drawingml/2006/main">
            <a:r>
              <a:t>- Product stakeholders can focus on Groups 1, 2, and 5; engineering stakeholders can use Groups 3 and 4 as the deeper audit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The groups describe the current integration surface, not every unrelated tool system elsewhere in the OpenWand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Introduce the foundational distinction between model power and host-provided agent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Begin with the good news: the model itself is not being replaced or deliberately weakened.</a:t>
            </a:r>
          </a:p>
          <a:p xmlns:a="http://schemas.openxmlformats.org/drawingml/2006/main">
            <a:r>
              <a:t>- Then explain that an agent is more than a model. It also depends on tools, context sources, permissions, protocol handlers, and lifecycle controls.</a:t>
            </a:r>
          </a:p>
          <a:p xmlns:a="http://schemas.openxmlformats.org/drawingml/2006/main">
            <a:r>
              <a:t>- This section defines the labels used throughout the rest of the audit and lists what already works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 three following slides are the best concise answer to the original question: 'Will OpenWand diminish ChatGPT/Codex?'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Avoid saying 'full power' without defining whether that means model reasoning or complete product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Explain why using the same model does not automatically create feature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Codex model provides reasoning intelligence. The app-server exposes a protocol for conversations, tools, approvals, threads, reviews, and discovery.</a:t>
            </a:r>
          </a:p>
          <a:p xmlns:a="http://schemas.openxmlformats.org/drawingml/2006/main">
            <a:r>
              <a:t>- OpenWand is the final gate: only the app-server requests it sends and handles can reach the user successfully.</a:t>
            </a:r>
          </a:p>
          <a:p xmlns:a="http://schemas.openxmlformats.org/drawingml/2006/main">
            <a:r>
              <a:t>- A missing UI or protocol handler can make a native capability unavailable even though the model would know how to use it.</a:t>
            </a:r>
          </a:p>
          <a:p xmlns:a="http://schemas.openxmlformats.org/drawingml/2006/main">
            <a:r>
              <a:t>- This is why the equation at the bottom includes tools, context, controls, and permissions in addition to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A useful engineering mental model is: model capability is necessary; harness capability determines operational reach.</a:t>
            </a:r>
          </a:p>
          <a:p xmlns:a="http://schemas.openxmlformats.org/drawingml/2006/main">
            <a:r>
              <a:t>- This distinction also prevents security restrictions from being misdiagnosed as model-quality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Do not interpret 'same model' as identical outputs. Different instructions, context, tools, and sandbox policies can change behavior substantially.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C:/Users/sunny/Documents/GitHub-CodeBase/Python-AI-assistant-overlay/core/harness_clients/codex.py#L452-L504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Define a status vocabulary that avoids both exaggeration and false reassurance.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Preserved means OpenWand deliberately passes or handles the capability today.</a:t>
            </a:r>
          </a:p>
          <a:p xmlns:a="http://schemas.openxmlformats.org/drawingml/2006/main">
            <a:r>
              <a:t>- Partial means there is a plausible underlying path, but OpenWand does not expose, manage, test, or guarantee the experience.</a:t>
            </a:r>
          </a:p>
          <a:p xmlns:a="http://schemas.openxmlformats.org/drawingml/2006/main">
            <a:r>
              <a:t>- Missing means the native surface exists and the current bridge does not integrate it.</a:t>
            </a:r>
          </a:p>
          <a:p xmlns:a="http://schemas.openxmlformats.org/drawingml/2006/main">
            <a:r>
              <a:t>- Restricted means OpenWand intentionally narrows the capability through isolation, sandboxing, or product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 partial category is critical for skills, MCP, subagents, hooks, and internet access. A binary table would misrepresent these areas.</a:t>
            </a:r>
          </a:p>
          <a:p xmlns:a="http://schemas.openxmlformats.org/drawingml/2006/main">
            <a:r>
              <a:t>- The status is assigned to the OpenWand integration experience, not to the underlying Codex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A capability can be technically possible and still be a poor product experience if users cannot discover, configure, approve, or debug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Document the important Codex capabilities that OpenWand already preserves.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actual Codex model is used, and OpenWand passes model, reasoning effort, reasoning-summary, and priority-tier settings.</a:t>
            </a:r>
          </a:p>
          <a:p xmlns:a="http://schemas.openxmlformats.org/drawingml/2006/main">
            <a:r>
              <a:t>- The bridge streams agent messages and reasoning summaries instead of waiting for one final response.</a:t>
            </a:r>
          </a:p>
          <a:p xmlns:a="http://schemas.openxmlformats.org/drawingml/2006/main">
            <a:r>
              <a:t>- Commands, file operations, patches, permission requests, and workspace sandboxing remain part of the core coding loop.</a:t>
            </a:r>
          </a:p>
          <a:p xmlns:a="http://schemas.openxmlformats.org/drawingml/2006/main">
            <a:r>
              <a:t>- Local screenshots are sent as localImage inputs, so vision-based reasoning is available for local attachments.</a:t>
            </a:r>
          </a:p>
          <a:p xmlns:a="http://schemas.openxmlformats.org/drawingml/2006/main">
            <a:r>
              <a:t>- Thread IDs are resumed, preserving ordinary multi-turn continuity.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This is enough for a useful coding agent: inspect, reason, run, edit, approve, and continue.</a:t>
            </a:r>
          </a:p>
          <a:p xmlns:a="http://schemas.openxmlformats.org/drawingml/2006/main">
            <a:r>
              <a:t>- The strongest product message is not 'nothing is missing'; it is 'the essential coding loop remains intact.'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Basic progress reporting should not be confused with the complete status, hook, terminal, or subagent observability available in native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C:/Users/sunny/Documents/GitHub-CodeBase/Python-AI-assistant-overlay/core/harness_clients/codex.py#L420-L504</a:t>
            </a:r>
          </a:p>
          <a:p xmlns:a="http://schemas.openxmlformats.org/drawingml/2006/main">
            <a:r>
              <a:t>- C:/Users/sunny/Documents/GitHub-CodeBase/Python-AI-assistant-overlay/core/harness_clients/codex.py#L507-L613</a:t>
            </a:r>
          </a:p>
          <a:p xmlns:a="http://schemas.openxmlformats.org/drawingml/2006/main">
            <a:r>
              <a:t>- C:/Users/sunny/Documents/GitHub-CodeBase/Python-AI-assistant-overlay/.env.example#L31-L42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Introduce the major areas where OpenWand exposes less than native Codex.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gaps are grouped by user workflow rather than by protocol method.</a:t>
            </a:r>
          </a:p>
          <a:p xmlns:a="http://schemas.openxmlformats.org/drawingml/2006/main">
            <a:r>
              <a:t>- Extend covers how Codex gains new tools and connected services.</a:t>
            </a:r>
          </a:p>
          <a:p xmlns:a="http://schemas.openxmlformats.org/drawingml/2006/main">
            <a:r>
              <a:t>- Interact covers mid-turn questions, forms, approvals, steering, and interruption.</a:t>
            </a:r>
          </a:p>
          <a:p xmlns:a="http://schemas.openxmlformats.org/drawingml/2006/main">
            <a:r>
              <a:t>- Manage covers threads, reviews, terminals, worktrees, and execution environments.</a:t>
            </a:r>
          </a:p>
          <a:p xmlns:a="http://schemas.openxmlformats.org/drawingml/2006/main">
            <a:r>
              <a:t>- Discover covers models, feature flags, status, hooks, and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This section contains the central comparison documentation and can be presented independently of the appendix registers.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Some gaps require UI work, some require protocol handling, and some require an explicit product decision about security or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Show that most parity loss comes from the surrounding platform rather than reasoning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Extensibility determines what external actions and data the model can access.</a:t>
            </a:r>
          </a:p>
          <a:p xmlns:a="http://schemas.openxmlformats.org/drawingml/2006/main">
            <a:r>
              <a:t>- Interaction determines whether a complex turn can pause, clarify, request authorization, or be redirected safely.</a:t>
            </a:r>
          </a:p>
          <a:p xmlns:a="http://schemas.openxmlformats.org/drawingml/2006/main">
            <a:r>
              <a:t>- Management determines whether users can control the full lifecycle of threads, terminals, review sessions, and workspaces.</a:t>
            </a:r>
          </a:p>
          <a:p xmlns:a="http://schemas.openxmlformats.org/drawingml/2006/main">
            <a:r>
              <a:t>- Discovery determines whether the UI stays synchronized with current models and feature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 four-domain grouping reduces a long feature checklist into an architecture model that product and engineering teams can share.</a:t>
            </a:r>
          </a:p>
          <a:p xmlns:a="http://schemas.openxmlformats.org/drawingml/2006/main">
            <a:r>
              <a:t>- A gap in any one domain can block an otherwise capable model from completing a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The categories overlap. For example, MCP needs extensibility, interaction for elicitation, and discovery for status/configuration.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Compare the ways native Codex and OpenWand acquire tools, skills, and connected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Native apps/connectors provide structured service access; OpenWand has no installed-app discovery or structured app mention/invocation experience.</a:t>
            </a:r>
          </a:p>
          <a:p xmlns:a="http://schemas.openxmlformats.org/drawingml/2006/main">
            <a:r>
              <a:t>- Plugin management is not surfaced, so installation, updates, and enable/disable state are outside the current experience.</a:t>
            </a:r>
          </a:p>
          <a:p xmlns:a="http://schemas.openxmlformats.org/drawingml/2006/main">
            <a:r>
              <a:t>- OpenWand's own actions are not registered as dynamic client-provided app-server tools.</a:t>
            </a:r>
          </a:p>
          <a:p xmlns:a="http://schemas.openxmlformats.org/drawingml/2006/main">
            <a:r>
              <a:t>- Skills may resolve from documented folders or a typed skill reference, but there is no picker, skills/list integration, dependency reporting, or state management.</a:t>
            </a:r>
          </a:p>
          <a:p xmlns:a="http://schemas.openxmlformats.org/drawingml/2006/main">
            <a:r>
              <a:t>- MCP can work only when configured in the isolated Codex profile; configuration, status, authentication, and elicitation remain weak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 most important implementation distinction is between showing a tool inventory and actually registering callable tools with the Codex app-server.</a:t>
            </a:r>
          </a:p>
          <a:p xmlns:a="http://schemas.openxmlformats.org/drawingml/2006/main">
            <a:r>
              <a:t>- A capability browser is useful for transparency, but it does not itself create tool-call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Do not label skills or MCP as completely unavailable. Their underlying discovery/configuration paths may work, but the experience is not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  <a:p xmlns:a="http://schemas.openxmlformats.org/drawingml/2006/main">
            <a:r>
              <a:t>- C:/Users/sunny/Documents/GitHub-CodeBase/Python-AI-assistant-overlay/core/harness_clients/codex.py#L301-L320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Explain why richer agent conversations can fail even when ordinary chat succeeds.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app-server can request structured user input, including constrained choices and session-scoped decisions.</a:t>
            </a:r>
          </a:p>
          <a:p xmlns:a="http://schemas.openxmlformats.org/drawingml/2006/main">
            <a:r>
              <a:t>- MCP servers can request form data, direct a user to a URL, or initiate authentication/authorization flows.</a:t>
            </a:r>
          </a:p>
          <a:p xmlns:a="http://schemas.openxmlformats.org/drawingml/2006/main">
            <a:r>
              <a:t>- turn/steer allows new guidance while a turn is running; turn/interrupt provides protocol-level cancellation.</a:t>
            </a:r>
          </a:p>
          <a:p xmlns:a="http://schemas.openxmlformats.org/drawingml/2006/main">
            <a:r>
              <a:t>- OpenWand's current server-request handler covers a narrow approval set and rejects unrecognized methods.</a:t>
            </a:r>
          </a:p>
          <a:p xmlns:a="http://schemas.openxmlformats.org/drawingml/2006/main">
            <a:r>
              <a:t>- Approval semantics are reduced: session grants, reusable command-rule amendments, and a distinct cancel decision are not fully represented.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A generic 'unsupported request' response is an architectural risk because new app-server interactions can appear faster than OpenWand adds dedicated UI.</a:t>
            </a:r>
          </a:p>
          <a:p xmlns:a="http://schemas.openxmlformats.org/drawingml/2006/main">
            <a:r>
              <a:t>- A resilient bridge should surface or safely queue unknown interactive requests instead of silently flattening them into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UI cancellation is not necessarily equivalent to notifying Codex through turn/interrupt; the model and background work may have different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C:/Users/sunny/Documents/GitHub-CodeBase/Python-AI-assistant-overlay/core/harness_clients/codex.py#L301-L320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Separate ordinary conversation continuation from full Codex thread lifecycle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OpenWand implements thread/start and thread/resume, which is enough for a normal continuing conversation.</a:t>
            </a:r>
          </a:p>
          <a:p xmlns:a="http://schemas.openxmlformats.org/drawingml/2006/main">
            <a:r>
              <a:t>- Native Codex also supports forking and side conversations, which let users branch without contaminating the primary thread.</a:t>
            </a:r>
          </a:p>
          <a:p xmlns:a="http://schemas.openxmlformats.org/drawingml/2006/main">
            <a:r>
              <a:t>- Native lifecycle surfaces include reading, listing, searching, naming, pinning, archiving, and deleting thread records and metadata.</a:t>
            </a:r>
          </a:p>
          <a:p xmlns:a="http://schemas.openxmlformats.org/drawingml/2006/main">
            <a:r>
              <a:t>- Manual compaction allows deliberate context management, while native goals provide persistent intent/state for long-running work.</a:t>
            </a:r>
          </a:p>
          <a:p xmlns:a="http://schemas.openxmlformats.org/drawingml/2006/main">
            <a:r>
              <a:t>- OpenWand explicitly disables native Codex history persistence inside its isolated 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OpenWand may maintain its own conversation database, but that does not expose Codex-native metadata or controls automatically.</a:t>
            </a:r>
          </a:p>
          <a:p xmlns:a="http://schemas.openxmlformats.org/drawingml/2006/main">
            <a:r>
              <a:t>- A parity implementation should define one authoritative relationship between OpenWand conversations and Codex thread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History persistence is a product/security decision as well as a missing feature; changing it requires clear privacy and retention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  <a:p xmlns:a="http://schemas.openxmlformats.org/drawingml/2006/main">
            <a:r>
              <a:t>- C:/Users/sunny/Documents/GitHub-CodeBase/Python-AI-assistant-overlay/core/harness_clients/codex.py#L558-L575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Distinguish basic command execution from the broader native review and terminal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shell works, but native review/start provides dedicated targets for uncommitted work, a base branch, a commit, or a custom review.</a:t>
            </a:r>
          </a:p>
          <a:p xmlns:a="http://schemas.openxmlformats.org/drawingml/2006/main">
            <a:r>
              <a:t>- Codex app-server terminal methods support interactive input, resize, termination, and background-process lifecycle management.</a:t>
            </a:r>
          </a:p>
          <a:p xmlns:a="http://schemas.openxmlformats.org/drawingml/2006/main">
            <a:r>
              <a:t>- OpenWand does not expose a user-operated Codex PTY or a complete background-terminal manager.</a:t>
            </a:r>
          </a:p>
          <a:p xmlns:a="http://schemas.openxmlformats.org/drawingml/2006/main">
            <a:r>
              <a:t>- Native worktree chats, environment switching, external-agent configuration import, and filesystem search/watch are not integrated.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Dedicated review mode matters because it creates a known review target and result lifecycle rather than relying on a free-form prompt.</a:t>
            </a:r>
          </a:p>
          <a:p xmlns:a="http://schemas.openxmlformats.org/drawingml/2006/main">
            <a:r>
              <a:t>- Terminal lifecycle visibility matters for long-running servers, test watchers, or commands that outlive a single streamed action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The absence of an interactive terminal UI does not mean the model cannot execute shell commands; it means users have less direct control and observability.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Show why protocol-driven discovery is safer than hardcoded product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app-server can enumerate models and include supported reasoning efforts, modalities, defaults, and personality support.</a:t>
            </a:r>
          </a:p>
          <a:p xmlns:a="http://schemas.openxmlformats.org/drawingml/2006/main">
            <a:r>
              <a:t>- OpenWand currently maintains Codex model choices as a static list in its UI.</a:t>
            </a:r>
          </a:p>
          <a:p xmlns:a="http://schemas.openxmlformats.org/drawingml/2006/main">
            <a:r>
              <a:t>- Feature discovery is missing, so OpenWand cannot adapt automatically to enabled experimental capabilities.</a:t>
            </a:r>
          </a:p>
          <a:p xmlns:a="http://schemas.openxmlformats.org/drawingml/2006/main">
            <a:r>
              <a:t>- Users do not receive a comprehensive native context/token/rate-limit status view.</a:t>
            </a:r>
          </a:p>
          <a:p xmlns:a="http://schemas.openxmlformats.org/drawingml/2006/main">
            <a:r>
              <a:t>- Hook lifecycle events and Codex configuration management are not surfaced as dedicated experiences.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Dynamic discovery reduces UI drift and prevents invalid option combinations.</a:t>
            </a:r>
          </a:p>
          <a:p xmlns:a="http://schemas.openxmlformats.org/drawingml/2006/main">
            <a:r>
              <a:t>- Observability is not cosmetic: users need to distinguish model limits, sandbox restrictions, rate limits, and missing integrations when a workflow behaves differently.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A model list fetched from another OpenAI API is not necessarily equivalent to the app-server's supported-model and capability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C:/Users/sunny/Documents/GitHub-CodeBase/Python-AI-assistant-overlay/ui/harness_controls.py#L24-L34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Prepare the audience for capabilities that exist in a gray area rather than a binary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Skills, MCP, subagents, hooks, and internet access can sometimes work through underlying Codex behavior or configuration.</a:t>
            </a:r>
          </a:p>
          <a:p xmlns:a="http://schemas.openxmlformats.org/drawingml/2006/main">
            <a:r>
              <a:t>- The problem is not always technical impossibility; it is missing discovery, configuration, control, error handling, and parity testing.</a:t>
            </a:r>
          </a:p>
          <a:p xmlns:a="http://schemas.openxmlformats.org/drawingml/2006/main">
            <a:r>
              <a:t>- This section also separates intentional OpenWand security defaults from accidental feature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Use this section whenever someone challenges a 'missing' label with an anecdotal example of the model successfully using an underlying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One successful run is evidence of possibility, not proof of a supported, observable, and recoverable product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Document the five most easily misunderstood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Skills can be resolved from known folders or text references, but OpenWand does not provide structured attachment or lifecycle controls.</a:t>
            </a:r>
          </a:p>
          <a:p xmlns:a="http://schemas.openxmlformats.org/drawingml/2006/main">
            <a:r>
              <a:t>- MCP can be configured inside the isolated profile, but personal configuration is not inherited and interactive authentication/elicitation is unsupported.</a:t>
            </a:r>
          </a:p>
          <a:p xmlns:a="http://schemas.openxmlformats.org/drawingml/2006/main">
            <a:r>
              <a:t>- Subagents may operate internally, yet OpenWand lacks the /agent thread switcher, per-agent status, and direct stop controls.</a:t>
            </a:r>
          </a:p>
          <a:p xmlns:a="http://schemas.openxmlformats.org/drawingml/2006/main">
            <a:r>
              <a:t>- Hooks may be discovered from repository/config sources, but personal configuration can be isolated and hook events are not clearly surfaced.</a:t>
            </a:r>
          </a:p>
          <a:p xmlns:a="http://schemas.openxmlformats.org/drawingml/2006/main">
            <a:r>
              <a:t>- Internet availability depends on sandbox/permission mode; built-in web search and arbitrary shell network access are separate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Recommended product language: 'available in some configurations, but not fully integrated or guaranteed.'</a:t>
            </a:r>
          </a:p>
          <a:p xmlns:a="http://schemas.openxmlformats.org/drawingml/2006/main">
            <a:r>
              <a:t>- Recommended engineering posture: add explicit parity tests for discovery, invocation, approval, failure recovery, and UI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Do not infer that the presence of an internal Codex feature guarantees it will survive OpenWand's instructions, isolated home, sandbox, or request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  <a:p xmlns:a="http://schemas.openxmlformats.org/drawingml/2006/main">
            <a:r>
              <a:t>- C:/Users/sunny/Documents/GitHub-CodeBase/Python-AI-assistant-overlay/core/harness_clients/codex.py#L463-L487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Explain the two deliberate OpenWand defaults that most visibly change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OpenWand creates a private CODEX_HOME rather than inheriting the user's normal ~/.codex profile.</a:t>
            </a:r>
          </a:p>
          <a:p xmlns:a="http://schemas.openxmlformats.org/drawingml/2006/main">
            <a:r>
              <a:t>- The isolated profile writes history.persistence = 'none', so native Codex history is not retained there.</a:t>
            </a:r>
          </a:p>
          <a:p xmlns:a="http://schemas.openxmlformats.org/drawingml/2006/main">
            <a:r>
              <a:t>- Personal MCP servers, hooks, and configuration are not automatically inherited into that private profile.</a:t>
            </a:r>
          </a:p>
          <a:p xmlns:a="http://schemas.openxmlformats.org/drawingml/2006/main">
            <a:r>
              <a:t>- Normal workspace mode sends networkAccess: false, preventing unrestricted shell-network activity.</a:t>
            </a:r>
          </a:p>
          <a:p xmlns:a="http://schemas.openxmlformats.org/drawingml/2006/main">
            <a:r>
              <a:t>- Ask mode can request additional permission, while full-access mode removes the normal workspace sandbox restriction.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These defaults can be valid security decisions. The UX problem is ambiguity: users may conclude the model is weak when the environment is intentionally restricted.</a:t>
            </a:r>
          </a:p>
          <a:p xmlns:a="http://schemas.openxmlformats.org/drawingml/2006/main">
            <a:r>
              <a:t>- A capability/status panel should show the active profile, sandbox, network policy, and approval mode in user-facing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Built-in web search is conceptually distinct from network access granted to shell commands; both require separate discovery and parity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  <a:p xmlns:a="http://schemas.openxmlformats.org/drawingml/2006/main">
            <a:r>
              <a:t>- C:/Users/sunny/Documents/GitHub-CodeBase/Python-AI-assistant-overlay/core/harness_clients/codex.py#L463-L487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Introduce the consolidated implementation registers used for planning and tracking.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previous groups explained the experience; the next two slides turn that explanation into a trackable register.</a:t>
            </a:r>
          </a:p>
          <a:p xmlns:a="http://schemas.openxmlformats.org/drawingml/2006/main">
            <a:r>
              <a:t>- Part one covers access and interaction. Part two covers lifecycle and administration.</a:t>
            </a:r>
          </a:p>
          <a:p xmlns:a="http://schemas.openxmlformats.org/drawingml/2006/main">
            <a:r>
              <a:t>- Each row includes the current state, the implementation reality, and the user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These slides are designed for engineering planning, issue creation, and future re-audits after integration work lands.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Statuses should be updated only after end-to-end verification, not merely after a UI control or protocol call is 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Provide a compact inventory of access, extension, and interaction gaps.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The first eight rows are hard missing surfaces: apps, plugins, dynamic client tools, structured questions, MCP elicitation, steering, interruption, and review mode.</a:t>
            </a:r>
          </a:p>
          <a:p xmlns:a="http://schemas.openxmlformats.org/drawingml/2006/main">
            <a:r>
              <a:t>- The final four rows are partial because skills, MCP, subagents, and hooks may still operate through underlying discovery or internal Codex behavior.</a:t>
            </a:r>
          </a:p>
          <a:p xmlns:a="http://schemas.openxmlformats.org/drawingml/2006/main">
            <a:r>
              <a:t>- The consequence column translates protocol gaps into user-facing impact, which helps prioritize beyond implementation effort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For each item, acceptance should cover discovery, successful execution, denial/cancellation, error recovery, and observable state.</a:t>
            </a:r>
          </a:p>
          <a:p xmlns:a="http://schemas.openxmlformats.org/drawingml/2006/main">
            <a:r>
              <a:t>- Client-provided tools require more than a display inventory: they need registration, invocation handling, permissions, result delivery, and audit visibility.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This register is scoped to the Codex app-server bridge and its user experience, not every model/tool facility in OpenWand.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Provide a compact inventory of thread, terminal, configuration, and discovery gaps.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Thread branching, management, compaction, and native goals are missing even though ordinary start/resume works.</a:t>
            </a:r>
          </a:p>
          <a:p xmlns:a="http://schemas.openxmlformats.org/drawingml/2006/main">
            <a:r>
              <a:t>- Persistent native history is categorized as restricted because OpenWand explicitly disables it in the isolated profile.</a:t>
            </a:r>
          </a:p>
          <a:p xmlns:a="http://schemas.openxmlformats.org/drawingml/2006/main">
            <a:r>
              <a:t>- Interactive and background terminal controls, structured inputs, personality, dynamic discovery, status, hooks, worktrees, environments, and filesystem APIs remain outside the current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Several rows can share infrastructure: dynamic discovery can drive model controls, personality availability, features, and UI status.</a:t>
            </a:r>
          </a:p>
          <a:p xmlns:a="http://schemas.openxmlformats.org/drawingml/2006/main">
            <a:r>
              <a:t>- Thread-management work should define synchronization, retention, and failure recovery between OpenWand storage and Codex-native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Some native surfaces may be intended primarily for first-party Codex clients; product requirements should still decide whether OpenWand needs exact parity or an equivalent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C:/Users/sunny/Documents/GitHub-CodeBase/Python-AI-assistant-overlay/core/harness_clients/codex.py#L35-L69</a:t>
            </a:r>
          </a:p>
          <a:p xmlns:a="http://schemas.openxmlformats.org/drawingml/2006/main">
            <a:r>
              <a:t>- C:/Users/sunny/Documents/GitHub-CodeBase/Python-AI-assistant-overlay/core/harness_clients/codex.py#L452-L504</a:t>
            </a:r>
          </a:p>
          <a:p xmlns:a="http://schemas.openxmlformats.org/drawingml/2006/main">
            <a:r>
              <a:t>- C:/Users/sunny/Documents/GitHub-CodeBase/Python-AI-assistant-overlay/ui/harness_controls.py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Shift the discussion from inventory to an actionable parity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Parity should be built in stages instead of attempting every native surface at once.</a:t>
            </a:r>
          </a:p>
          <a:p xmlns:a="http://schemas.openxmlformats.org/drawingml/2006/main">
            <a:r>
              <a:t>- First prevent native interactive flows from failing. Then expose accurate capability inventory and status. Finally complete advanced lifecycle workflows.</a:t>
            </a:r>
          </a:p>
          <a:p xmlns:a="http://schemas.openxmlformats.org/drawingml/2006/main">
            <a:r>
              <a:t>- The final slide defines parity through observable end-to-end tests rather than a model label or implementation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This section is the decision point for prioritization, ownership, milestones, and product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The roadmap is ordered by architectural leverage and user harm, not by estimated engineering effort.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Propose an implementation sequence that delivers correctness before breadth.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P0 stops active native flows from being blocked: structured requests, steering, interruption, review, and dynamic discovery.</a:t>
            </a:r>
          </a:p>
          <a:p xmlns:a="http://schemas.openxmlformats.org/drawingml/2006/main">
            <a:r>
              <a:t>- P1 makes capability visible and controllable: skills, MCP, apps, status, limits, session approvals, and terminal lifecycle.</a:t>
            </a:r>
          </a:p>
          <a:p xmlns:a="http://schemas.openxmlformats.org/drawingml/2006/main">
            <a:r>
              <a:t>- P2 completes advanced lifecycle parity: thread management, worktrees, side conversations, configuration, filesystem watching, and plugin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P0 has architectural leverage because a general interactive-request framework reduces the chance that future app-server methods fail as 'unsupported.'</a:t>
            </a:r>
          </a:p>
          <a:p xmlns:a="http://schemas.openxmlformats.org/drawingml/2006/main">
            <a:r>
              <a:t>- P1 should connect inventory to real execution policy so the UI describes what the active route can actually use.</a:t>
            </a:r>
          </a:p>
          <a:p xmlns:a="http://schemas.openxmlformats.org/drawingml/2006/main">
            <a:r>
              <a:t>- P2 can be split by product demand; not every advanced native surface must ship simultaneously.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A visible control is not complete until the denial, cancellation, timeout, and stale-state paths are also tested.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[Purpose]</a:t>
            </a:r>
          </a:p>
          <a:p xmlns:a="http://schemas.openxmlformats.org/drawingml/2006/main">
            <a:r>
              <a:t>Define a measurable release standard for claiming strong Codex capability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[Suggested talk track]</a:t>
            </a:r>
          </a:p>
          <a:p xmlns:a="http://schemas.openxmlformats.org/drawingml/2006/main">
            <a:r>
              <a:t>- Model and feature discovery must come from the active Codex surface, including capability bounds and defaults.</a:t>
            </a:r>
          </a:p>
          <a:p xmlns:a="http://schemas.openxmlformats.org/drawingml/2006/main">
            <a:r>
              <a:t>- Structured questions and MCP elicitation must complete end to end, including user cancellation and authorization failure.</a:t>
            </a:r>
          </a:p>
          <a:p xmlns:a="http://schemas.openxmlformats.org/drawingml/2006/main">
            <a:r>
              <a:t>- Steering and interruption must update both the app-server turn and the OpenWand UI state.</a:t>
            </a:r>
          </a:p>
          <a:p xmlns:a="http://schemas.openxmlformats.org/drawingml/2006/main">
            <a:r>
              <a:t>- Native thread, review, and terminal workflows must be operable and recoverable.</a:t>
            </a:r>
          </a:p>
          <a:p xmlns:a="http://schemas.openxmlformats.org/drawingml/2006/main">
            <a:r>
              <a:t>- Skills, MCP, apps, hooks, subagents, status, and limits must be visible with meaningful error states.</a:t>
            </a:r>
          </a:p>
          <a:p xmlns:a="http://schemas.openxmlformats.org/drawingml/2006/main">
            <a:r>
              <a:t>- Security restrictions must be explained as environment state instead of being presented as model weakness.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[Additional technical context]</a:t>
            </a:r>
          </a:p>
          <a:p xmlns:a="http://schemas.openxmlformats.org/drawingml/2006/main">
            <a:r>
              <a:t>- Use these items as acceptance-test families. Each family should include success, denial, cancellation, timeout, unavailable dependency, and restart/resume cases.</a:t>
            </a:r>
          </a:p>
          <a:p xmlns:a="http://schemas.openxmlformats.org/drawingml/2006/main">
            <a:r>
              <a:t>- The strongest final product message is: OpenWand preserves model intelligence and transparently reports which agent capabilities are currently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[Important caveats]</a:t>
            </a:r>
          </a:p>
          <a:p xmlns:a="http://schemas.openxmlformats.org/drawingml/2006/main">
            <a:r>
              <a:t>- Parity is not permanent. Repeat the audit when Codex app-server releases add or change protocol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https://learn.chatgpt.com/docs/app-server</a:t>
            </a:r>
          </a:p>
          <a:p xmlns:a="http://schemas.openxmlformats.org/drawingml/2006/main">
            <a:r>
              <a:t>- https://learn.chatgpt.com/docs/codex/cli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https://learn.chatgpt.com/docs/extend/mcp?surface=cli</a:t>
            </a:r>
          </a:p>
          <a:p xmlns:a="http://schemas.openxmlformats.org/drawingml/2006/main">
            <a:r>
              <a:t>- https://learn.chatgpt.com/docs/agent-configuration/subagents</a:t>
            </a:r>
          </a:p>
          <a:p xmlns:a="http://schemas.openxmlformats.org/drawingml/2006/main">
            <a:r>
              <a:t>- https://learn.chatgpt.com/docs/hooks</a:t>
            </a:r>
          </a:p>
          <a:p xmlns:a="http://schemas.openxmlformats.org/drawingml/2006/main">
            <a:r>
              <a:t>- https://learn.chatgpt.com/docs/config-file/config-reference</a:t>
            </a:r>
          </a:p>
          <a:p xmlns:a="http://schemas.openxmlformats.org/drawingml/2006/main">
            <a:r>
              <a:t>- C:/Users/sunny/Documents/GitHub-CodeBase/Python-AI-assistant-overlay/core/harness_clients/codex.py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db23238f841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9c37a956e0466c" /><Relationship Type="http://schemas.openxmlformats.org/officeDocument/2006/relationships/slideLayout" Target="/ppt/slideLayouts/slideLayout1.xml" Id="R4513e8ce4c11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3e8ce4c11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b9cb4f7445de" /><Relationship Type="http://schemas.openxmlformats.org/officeDocument/2006/relationships/notesSlide" Target="/ppt/notesSlides/notesSlide1.xml" Id="Rd92cb8283a3442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f88ed5684b96" /><Relationship Type="http://schemas.openxmlformats.org/officeDocument/2006/relationships/notesSlide" Target="/ppt/notesSlides/notesSlide2.xml" Id="R51636889cbc74d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4ff93e4c047fc" /><Relationship Type="http://schemas.openxmlformats.org/officeDocument/2006/relationships/notesSlide" Target="/ppt/notesSlides/notesSlide3.xml" Id="Rc16fb2951ab849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c2f9530dc40f8" /><Relationship Type="http://schemas.openxmlformats.org/officeDocument/2006/relationships/notesSlide" Target="/ppt/notesSlides/notesSlide4.xml" Id="R3539861d0e384c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80002406c49b5" /><Relationship Type="http://schemas.openxmlformats.org/officeDocument/2006/relationships/notesSlide" Target="/ppt/notesSlides/notesSlide5.xml" Id="R9690512c8df940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abb8be3974283" /><Relationship Type="http://schemas.openxmlformats.org/officeDocument/2006/relationships/notesSlide" Target="/ppt/notesSlides/notesSlide6.xml" Id="R3884ac5d180446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96ab03a334ca4" /><Relationship Type="http://schemas.openxmlformats.org/officeDocument/2006/relationships/notesSlide" Target="/ppt/notesSlides/notesSlide7.xml" Id="Rf49f4d4eff864e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a09e5d1ee49ba" /><Relationship Type="http://schemas.openxmlformats.org/officeDocument/2006/relationships/notesSlide" Target="/ppt/notesSlides/notesSlide8.xml" Id="R5aef54f5136b4d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5bfbfadc7448f" /><Relationship Type="http://schemas.openxmlformats.org/officeDocument/2006/relationships/notesSlide" Target="/ppt/notesSlides/notesSlide9.xml" Id="R497aca5f196848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f8e3b01ef49b7" /><Relationship Type="http://schemas.openxmlformats.org/officeDocument/2006/relationships/notesSlide" Target="/ppt/notesSlides/notesSlide10.xml" Id="Ra8bd4465a4a24f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11fd374804a1b" /><Relationship Type="http://schemas.openxmlformats.org/officeDocument/2006/relationships/notesSlide" Target="/ppt/notesSlides/notesSlide11.xml" Id="Rd034d87d540f41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a50d10de41af" /><Relationship Type="http://schemas.openxmlformats.org/officeDocument/2006/relationships/notesSlide" Target="/ppt/notesSlides/notesSlide12.xml" Id="R16d5abb84f3545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d0916200d4a50" /><Relationship Type="http://schemas.openxmlformats.org/officeDocument/2006/relationships/notesSlide" Target="/ppt/notesSlides/notesSlide13.xml" Id="R827f5f5dc81545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ccc2855149d4" /><Relationship Type="http://schemas.openxmlformats.org/officeDocument/2006/relationships/notesSlide" Target="/ppt/notesSlides/notesSlide14.xml" Id="Ree3b43b039cd4d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b835196244ee" /><Relationship Type="http://schemas.openxmlformats.org/officeDocument/2006/relationships/notesSlide" Target="/ppt/notesSlides/notesSlide15.xml" Id="Rc58aa1f725d94d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7874a61d846d7" /><Relationship Type="http://schemas.openxmlformats.org/officeDocument/2006/relationships/notesSlide" Target="/ppt/notesSlides/notesSlide16.xml" Id="R1653dd9787f64b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9cc440764ede" /><Relationship Type="http://schemas.openxmlformats.org/officeDocument/2006/relationships/notesSlide" Target="/ppt/notesSlides/notesSlide17.xml" Id="Rf7f23c2f78c641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ed0ba4254ac9" /><Relationship Type="http://schemas.openxmlformats.org/officeDocument/2006/relationships/notesSlide" Target="/ppt/notesSlides/notesSlide18.xml" Id="Re24b19b13cab49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5a81355d404e" /><Relationship Type="http://schemas.openxmlformats.org/officeDocument/2006/relationships/notesSlide" Target="/ppt/notesSlides/notesSlide19.xml" Id="R86099989cf6b4a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da3629af049cd" /><Relationship Type="http://schemas.openxmlformats.org/officeDocument/2006/relationships/notesSlide" Target="/ppt/notesSlides/notesSlide20.xml" Id="R267ea47d44c946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5fb1d2124da4" /><Relationship Type="http://schemas.openxmlformats.org/officeDocument/2006/relationships/notesSlide" Target="/ppt/notesSlides/notesSlide21.xml" Id="R52517b9ee47f44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05567e63f4cb3" /><Relationship Type="http://schemas.openxmlformats.org/officeDocument/2006/relationships/notesSlide" Target="/ppt/notesSlides/notesSlide22.xml" Id="R57f60ca7befc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-left">
            <a:extLst xmlns:a="http://schemas.openxmlformats.org/drawingml/2006/main">
              <a:ext uri="{FF2B5EF4-FFF2-40B4-BE49-F238E27FC236}">
                <a16:creationId xmlns:a16="http://schemas.microsoft.com/office/drawing/2014/main" id="{25FC4425-E52B-44A1-BB51-EDF4B013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OPENWAND PRODUCT + ENGINEERING</a:t>
            </a:r>
          </a:p>
        </p:txBody>
      </p:sp>
      <p:sp>
        <p:nvSpPr>
          <p:cNvPr id="2" name="cover-kicker-right">
            <a:extLst xmlns:a="http://schemas.openxmlformats.org/drawingml/2006/main">
              <a:ext uri="{FF2B5EF4-FFF2-40B4-BE49-F238E27FC236}">
                <a16:creationId xmlns:a16="http://schemas.microsoft.com/office/drawing/2014/main" id="{EB94868A-9ABA-4AA8-88BD-391F5FE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CAPABILITY PARITY AUDIT · AUGUST 2026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3B8CB2AD-5FD8-4C6F-96D4-B9D16E4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2DE1EE-D63F-4E1A-82A7-29BBC3D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9715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Native Codex CLI</a:t>
            </a:r>
          </a:p>
          <a:p xmlns:a="http://schemas.openxmlformats.org/drawingml/2006/main">
            <a:pPr algn="l">
              <a:defRPr sz="5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vs OpenWand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3B2C312-5382-4FCB-A3C3-30A51DA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What remains powerful, what is only partially exposed, and what the current bridge leaves behind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D499BAD-5B37-4B86-ADD6-A01682E9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09850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AB2D9A99-2D48-4435-87EF-B3D8750E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4691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2">
            <a:extLst xmlns:a="http://schemas.openxmlformats.org/drawingml/2006/main">
              <a:ext uri="{FF2B5EF4-FFF2-40B4-BE49-F238E27FC236}">
                <a16:creationId xmlns:a16="http://schemas.microsoft.com/office/drawing/2014/main" id="{8E1F5740-22C2-49BB-8B96-5317CD34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DECK MAP · FIVE GROUPS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06D4B06-A868-4846-A2D0-C6485DCB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the deck is organized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F8423AF0-C825-4C99-9DB5-B86B0D62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F7A80352-EF7D-4AC1-A304-FC82311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879066D-736D-4A8E-B8BA-18A76F31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map-num-0">
            <a:extLst xmlns:a="http://schemas.openxmlformats.org/drawingml/2006/main">
              <a:ext uri="{FF2B5EF4-FFF2-40B4-BE49-F238E27FC236}">
                <a16:creationId xmlns:a16="http://schemas.microsoft.com/office/drawing/2014/main" id="{C2644FDE-1DB5-4B0F-81B1-45EA7D8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map-title-0">
            <a:extLst xmlns:a="http://schemas.openxmlformats.org/drawingml/2006/main">
              <a:ext uri="{FF2B5EF4-FFF2-40B4-BE49-F238E27FC236}">
                <a16:creationId xmlns:a16="http://schemas.microsoft.com/office/drawing/2014/main" id="{25936FFC-E2AC-4EF2-867F-3268C81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14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truth</a:t>
            </a:r>
          </a:p>
        </p:txBody>
      </p:sp>
      <p:sp>
        <p:nvSpPr>
          <p:cNvPr id="8" name="map-desc-0">
            <a:extLst xmlns:a="http://schemas.openxmlformats.org/drawingml/2006/main">
              <a:ext uri="{FF2B5EF4-FFF2-40B4-BE49-F238E27FC236}">
                <a16:creationId xmlns:a16="http://schemas.microsoft.com/office/drawing/2014/main" id="{47846490-70D7-45BC-AC41-1E6C968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Same model vs. full agent capability</a:t>
            </a:r>
          </a:p>
        </p:txBody>
      </p:sp>
      <p:sp>
        <p:nvSpPr>
          <p:cNvPr id="9" name="map-rule-0">
            <a:extLst xmlns:a="http://schemas.openxmlformats.org/drawingml/2006/main">
              <a:ext uri="{FF2B5EF4-FFF2-40B4-BE49-F238E27FC236}">
                <a16:creationId xmlns:a16="http://schemas.microsoft.com/office/drawing/2014/main" id="{6C1B545D-5E41-4E0A-89E0-560D8F9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-num-1">
            <a:extLst xmlns:a="http://schemas.openxmlformats.org/drawingml/2006/main">
              <a:ext uri="{FF2B5EF4-FFF2-40B4-BE49-F238E27FC236}">
                <a16:creationId xmlns:a16="http://schemas.microsoft.com/office/drawing/2014/main" id="{A34C3CF1-45E7-4EBB-BCE2-40FA12D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map-title-1">
            <a:extLst xmlns:a="http://schemas.openxmlformats.org/drawingml/2006/main">
              <a:ext uri="{FF2B5EF4-FFF2-40B4-BE49-F238E27FC236}">
                <a16:creationId xmlns:a16="http://schemas.microsoft.com/office/drawing/2014/main" id="{DE558279-E980-4B04-8691-C10573BA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Capability gaps</a:t>
            </a:r>
          </a:p>
        </p:txBody>
      </p:sp>
      <p:sp>
        <p:nvSpPr>
          <p:cNvPr id="12" name="map-desc-1">
            <a:extLst xmlns:a="http://schemas.openxmlformats.org/drawingml/2006/main">
              <a:ext uri="{FF2B5EF4-FFF2-40B4-BE49-F238E27FC236}">
                <a16:creationId xmlns:a16="http://schemas.microsoft.com/office/drawing/2014/main" id="{AA1D2A16-A404-41DA-90C5-B2728C1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812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Extend, interact, manage, and discover</a:t>
            </a:r>
          </a:p>
        </p:txBody>
      </p:sp>
      <p:sp>
        <p:nvSpPr>
          <p:cNvPr id="13" name="map-rule-1">
            <a:extLst xmlns:a="http://schemas.openxmlformats.org/drawingml/2006/main">
              <a:ext uri="{FF2B5EF4-FFF2-40B4-BE49-F238E27FC236}">
                <a16:creationId xmlns:a16="http://schemas.microsoft.com/office/drawing/2014/main" id="{414A488A-949E-430A-9B92-81D8A38D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-num-2">
            <a:extLst xmlns:a="http://schemas.openxmlformats.org/drawingml/2006/main">
              <a:ext uri="{FF2B5EF4-FFF2-40B4-BE49-F238E27FC236}">
                <a16:creationId xmlns:a16="http://schemas.microsoft.com/office/drawing/2014/main" id="{96E6B646-AB3E-4526-81F1-A48A215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map-title-2">
            <a:extLst xmlns:a="http://schemas.openxmlformats.org/drawingml/2006/main">
              <a:ext uri="{FF2B5EF4-FFF2-40B4-BE49-F238E27FC236}">
                <a16:creationId xmlns:a16="http://schemas.microsoft.com/office/drawing/2014/main" id="{4BEAD9A2-81B8-4050-AF63-EC7CD75A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nuances</a:t>
            </a:r>
          </a:p>
        </p:txBody>
      </p:sp>
      <p:sp>
        <p:nvSpPr>
          <p:cNvPr id="16" name="map-desc-2">
            <a:extLst xmlns:a="http://schemas.openxmlformats.org/drawingml/2006/main">
              <a:ext uri="{FF2B5EF4-FFF2-40B4-BE49-F238E27FC236}">
                <a16:creationId xmlns:a16="http://schemas.microsoft.com/office/drawing/2014/main" id="{9FE279B6-A0D2-4EC0-AFC0-1001AA83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194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Partial capability and security choices</a:t>
            </a:r>
          </a:p>
        </p:txBody>
      </p:sp>
      <p:sp>
        <p:nvSpPr>
          <p:cNvPr id="17" name="map-rule-2">
            <a:extLst xmlns:a="http://schemas.openxmlformats.org/drawingml/2006/main">
              <a:ext uri="{FF2B5EF4-FFF2-40B4-BE49-F238E27FC236}">
                <a16:creationId xmlns:a16="http://schemas.microsoft.com/office/drawing/2014/main" id="{23B9E053-93F7-4012-92E4-922348BE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p-num-3">
            <a:extLst xmlns:a="http://schemas.openxmlformats.org/drawingml/2006/main">
              <a:ext uri="{FF2B5EF4-FFF2-40B4-BE49-F238E27FC236}">
                <a16:creationId xmlns:a16="http://schemas.microsoft.com/office/drawing/2014/main" id="{083D9B6D-D98F-42E9-A93D-A1AFE40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map-title-3">
            <a:extLst xmlns:a="http://schemas.openxmlformats.org/drawingml/2006/main">
              <a:ext uri="{FF2B5EF4-FFF2-40B4-BE49-F238E27FC236}">
                <a16:creationId xmlns:a16="http://schemas.microsoft.com/office/drawing/2014/main" id="{E1DCD765-2E69-4B83-8F8B-A2820B79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register</a:t>
            </a:r>
          </a:p>
        </p:txBody>
      </p:sp>
      <p:sp>
        <p:nvSpPr>
          <p:cNvPr id="20" name="map-desc-3">
            <a:extLst xmlns:a="http://schemas.openxmlformats.org/drawingml/2006/main">
              <a:ext uri="{FF2B5EF4-FFF2-40B4-BE49-F238E27FC236}">
                <a16:creationId xmlns:a16="http://schemas.microsoft.com/office/drawing/2014/main" id="{6BB42A14-B02D-4FA5-B85F-D65B2047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A consolidated engineering inventory</a:t>
            </a:r>
          </a:p>
        </p:txBody>
      </p:sp>
      <p:sp>
        <p:nvSpPr>
          <p:cNvPr id="21" name="map-rule-3">
            <a:extLst xmlns:a="http://schemas.openxmlformats.org/drawingml/2006/main">
              <a:ext uri="{FF2B5EF4-FFF2-40B4-BE49-F238E27FC236}">
                <a16:creationId xmlns:a16="http://schemas.microsoft.com/office/drawing/2014/main" id="{4BEB2F03-CFB6-4B2D-963E-932460FF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p-num-4">
            <a:extLst xmlns:a="http://schemas.openxmlformats.org/drawingml/2006/main">
              <a:ext uri="{FF2B5EF4-FFF2-40B4-BE49-F238E27FC236}">
                <a16:creationId xmlns:a16="http://schemas.microsoft.com/office/drawing/2014/main" id="{E4AAB424-E2CA-4CB3-98A6-579AB7E8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map-title-4">
            <a:extLst xmlns:a="http://schemas.openxmlformats.org/drawingml/2006/main">
              <a:ext uri="{FF2B5EF4-FFF2-40B4-BE49-F238E27FC236}">
                <a16:creationId xmlns:a16="http://schemas.microsoft.com/office/drawing/2014/main" id="{D6B39EC9-BAD1-4AF8-ADCC-716765B2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Parity plan</a:t>
            </a:r>
          </a:p>
        </p:txBody>
      </p:sp>
      <p:sp>
        <p:nvSpPr>
          <p:cNvPr id="24" name="map-desc-4">
            <a:extLst xmlns:a="http://schemas.openxmlformats.org/drawingml/2006/main">
              <a:ext uri="{FF2B5EF4-FFF2-40B4-BE49-F238E27FC236}">
                <a16:creationId xmlns:a16="http://schemas.microsoft.com/office/drawing/2014/main" id="{68E87EB1-B5F2-4E5B-9491-EB032E4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95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Roadmap and acceptance criteria</a:t>
            </a:r>
          </a:p>
        </p:txBody>
      </p:sp>
      <p:sp>
        <p:nvSpPr>
          <p:cNvPr id="25" name="map-rule-4">
            <a:extLst xmlns:a="http://schemas.openxmlformats.org/drawingml/2006/main">
              <a:ext uri="{FF2B5EF4-FFF2-40B4-BE49-F238E27FC236}">
                <a16:creationId xmlns:a16="http://schemas.microsoft.com/office/drawing/2014/main" id="{020626C5-F290-4D57-A4AB-F0C8315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780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kicker-3">
            <a:extLst xmlns:a="http://schemas.openxmlformats.org/drawingml/2006/main">
              <a:ext uri="{FF2B5EF4-FFF2-40B4-BE49-F238E27FC236}">
                <a16:creationId xmlns:a16="http://schemas.microsoft.com/office/drawing/2014/main" id="{5B32A10F-38F9-4416-99EF-CB7972B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01 OF 05</a:t>
            </a:r>
          </a:p>
        </p:txBody>
      </p:sp>
      <p:sp>
        <p:nvSpPr>
          <p:cNvPr id="2" name="section-page-3">
            <a:extLst xmlns:a="http://schemas.openxmlformats.org/drawingml/2006/main">
              <a:ext uri="{FF2B5EF4-FFF2-40B4-BE49-F238E27FC236}">
                <a16:creationId xmlns:a16="http://schemas.microsoft.com/office/drawing/2014/main" id="{D119AD5B-A15A-43E3-BA32-4DBA622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ection-rule-3">
            <a:extLst xmlns:a="http://schemas.openxmlformats.org/drawingml/2006/main">
              <a:ext uri="{FF2B5EF4-FFF2-40B4-BE49-F238E27FC236}">
                <a16:creationId xmlns:a16="http://schemas.microsoft.com/office/drawing/2014/main" id="{E4D1E2B2-AAAB-4ACB-B507-08A4ADD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6923B17A-6DBB-486E-892E-BE4C66DC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truth</a:t>
            </a:r>
          </a:p>
        </p:txBody>
      </p:sp>
      <p:sp>
        <p:nvSpPr>
          <p:cNvPr id="5" name="section-subtitle-3">
            <a:extLst xmlns:a="http://schemas.openxmlformats.org/drawingml/2006/main">
              <a:ext uri="{FF2B5EF4-FFF2-40B4-BE49-F238E27FC236}">
                <a16:creationId xmlns:a16="http://schemas.microsoft.com/office/drawing/2014/main" id="{23519B3D-B05B-416A-8475-11A972CE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Start with the reassurance: the model remains capable. Then define exactly what 'parity' means.</a:t>
            </a:r>
          </a:p>
        </p:txBody>
      </p:sp>
      <p:sp>
        <p:nvSpPr>
          <p:cNvPr id="6" name="section-item-num-3-0">
            <a:extLst xmlns:a="http://schemas.openxmlformats.org/drawingml/2006/main">
              <a:ext uri="{FF2B5EF4-FFF2-40B4-BE49-F238E27FC236}">
                <a16:creationId xmlns:a16="http://schemas.microsoft.com/office/drawing/2014/main" id="{442FB323-8142-47B0-965B-F7A45F7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ection-item-3-0">
            <a:extLst xmlns:a="http://schemas.openxmlformats.org/drawingml/2006/main">
              <a:ext uri="{FF2B5EF4-FFF2-40B4-BE49-F238E27FC236}">
                <a16:creationId xmlns:a16="http://schemas.microsoft.com/office/drawing/2014/main" id="{0B66F3C9-8DB3-423C-A1BF-603FB276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vs. harness</a:t>
            </a:r>
          </a:p>
        </p:txBody>
      </p:sp>
      <p:sp>
        <p:nvSpPr>
          <p:cNvPr id="8" name="section-item-num-3-1">
            <a:extLst xmlns:a="http://schemas.openxmlformats.org/drawingml/2006/main">
              <a:ext uri="{FF2B5EF4-FFF2-40B4-BE49-F238E27FC236}">
                <a16:creationId xmlns:a16="http://schemas.microsoft.com/office/drawing/2014/main" id="{20B15523-1931-44D4-ACA0-A5E2D5F2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ection-item-3-1">
            <a:extLst xmlns:a="http://schemas.openxmlformats.org/drawingml/2006/main">
              <a:ext uri="{FF2B5EF4-FFF2-40B4-BE49-F238E27FC236}">
                <a16:creationId xmlns:a16="http://schemas.microsoft.com/office/drawing/2014/main" id="{D26E18AD-8256-4595-A6F0-F041C3E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Honest status labels</a:t>
            </a:r>
          </a:p>
        </p:txBody>
      </p:sp>
      <p:sp>
        <p:nvSpPr>
          <p:cNvPr id="10" name="section-item-num-3-2">
            <a:extLst xmlns:a="http://schemas.openxmlformats.org/drawingml/2006/main">
              <a:ext uri="{FF2B5EF4-FFF2-40B4-BE49-F238E27FC236}">
                <a16:creationId xmlns:a16="http://schemas.microsoft.com/office/drawing/2014/main" id="{419114F7-251A-456A-B34B-71D3BDEB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ection-item-3-2">
            <a:extLst xmlns:a="http://schemas.openxmlformats.org/drawingml/2006/main">
              <a:ext uri="{FF2B5EF4-FFF2-40B4-BE49-F238E27FC236}">
                <a16:creationId xmlns:a16="http://schemas.microsoft.com/office/drawing/2014/main" id="{BC65A5CE-3C41-4321-9F36-19B74B7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already works</a:t>
            </a:r>
          </a:p>
        </p:txBody>
      </p:sp>
      <p:sp>
        <p:nvSpPr>
          <p:cNvPr id="1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6B8A0EDB-55E6-4AA7-96A9-B13B6C64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1675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2935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4">
            <a:extLst xmlns:a="http://schemas.openxmlformats.org/drawingml/2006/main">
              <a:ext uri="{FF2B5EF4-FFF2-40B4-BE49-F238E27FC236}">
                <a16:creationId xmlns:a16="http://schemas.microsoft.com/office/drawing/2014/main" id="{88206F50-08C1-4217-BDF7-891C4A9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1 · CORE TRUTH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0771165-20AF-4490-AC3D-0738671E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is not downgraded. The harness is narrower.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93A09DFC-0A57-4097-B323-FCC493CC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A7C08F74-08DA-410F-8E22-1606868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72580A3-AB7D-4BB2-85E3-12A59163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s2-lead">
            <a:extLst xmlns:a="http://schemas.openxmlformats.org/drawingml/2006/main">
              <a:ext uri="{FF2B5EF4-FFF2-40B4-BE49-F238E27FC236}">
                <a16:creationId xmlns:a16="http://schemas.microsoft.com/office/drawing/2014/main" id="{E9B51D0F-7FC1-49D1-9448-A0DB90F1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can call the real Codex model through the app-server. But users only receive the tools, context, controls, and lifecycle features that OpenWand passes through and handles.</a:t>
            </a:r>
          </a:p>
        </p:txBody>
      </p:sp>
      <p:sp>
        <p:nvSpPr>
          <p:cNvPr id="7" name="s2-block-0">
            <a:extLst xmlns:a="http://schemas.openxmlformats.org/drawingml/2006/main">
              <a:ext uri="{FF2B5EF4-FFF2-40B4-BE49-F238E27FC236}">
                <a16:creationId xmlns:a16="http://schemas.microsoft.com/office/drawing/2014/main" id="{37C442B8-11F6-43C6-9869-65734196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8" name="s2-num-0">
            <a:extLst xmlns:a="http://schemas.openxmlformats.org/drawingml/2006/main">
              <a:ext uri="{FF2B5EF4-FFF2-40B4-BE49-F238E27FC236}">
                <a16:creationId xmlns:a16="http://schemas.microsoft.com/office/drawing/2014/main" id="{05797492-505F-49BF-B37E-09F21884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s2-title-0">
            <a:extLst xmlns:a="http://schemas.openxmlformats.org/drawingml/2006/main">
              <a:ext uri="{FF2B5EF4-FFF2-40B4-BE49-F238E27FC236}">
                <a16:creationId xmlns:a16="http://schemas.microsoft.com/office/drawing/2014/main" id="{AF3E1DC3-4981-4401-949A-6F8F2B7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57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Codex model</a:t>
            </a:r>
          </a:p>
        </p:txBody>
      </p:sp>
      <p:sp>
        <p:nvSpPr>
          <p:cNvPr id="10" name="s2-body-0">
            <a:extLst xmlns:a="http://schemas.openxmlformats.org/drawingml/2006/main">
              <a:ext uri="{FF2B5EF4-FFF2-40B4-BE49-F238E27FC236}">
                <a16:creationId xmlns:a16="http://schemas.microsoft.com/office/drawing/2014/main" id="{DCC18C6E-A537-4726-829B-D553868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Reasoning intelligence</a:t>
            </a:r>
          </a:p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stays intact</a:t>
            </a:r>
          </a:p>
        </p:txBody>
      </p:sp>
      <p:sp>
        <p:nvSpPr>
          <p:cNvPr id="11" name="s2-arrow-0">
            <a:extLst xmlns:a="http://schemas.openxmlformats.org/drawingml/2006/main">
              <a:ext uri="{FF2B5EF4-FFF2-40B4-BE49-F238E27FC236}">
                <a16:creationId xmlns:a16="http://schemas.microsoft.com/office/drawing/2014/main" id="{C71BE749-99FE-4AF1-812E-79C3D696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0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2-block-1">
            <a:extLst xmlns:a="http://schemas.openxmlformats.org/drawingml/2006/main">
              <a:ext uri="{FF2B5EF4-FFF2-40B4-BE49-F238E27FC236}">
                <a16:creationId xmlns:a16="http://schemas.microsoft.com/office/drawing/2014/main" id="{44004ABD-6D2D-4566-9ADE-4E76F6B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</p:sp>
      <p:sp>
        <p:nvSpPr>
          <p:cNvPr id="13" name="s2-num-1">
            <a:extLst xmlns:a="http://schemas.openxmlformats.org/drawingml/2006/main">
              <a:ext uri="{FF2B5EF4-FFF2-40B4-BE49-F238E27FC236}">
                <a16:creationId xmlns:a16="http://schemas.microsoft.com/office/drawing/2014/main" id="{1895D6FA-4795-4B82-A82A-6CF08CD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194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s2-title-1">
            <a:extLst xmlns:a="http://schemas.openxmlformats.org/drawingml/2006/main">
              <a:ext uri="{FF2B5EF4-FFF2-40B4-BE49-F238E27FC236}">
                <a16:creationId xmlns:a16="http://schemas.microsoft.com/office/drawing/2014/main" id="{F4FB3FF9-E61C-417D-901D-ABFEEE6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Codex app-server</a:t>
            </a:r>
          </a:p>
        </p:txBody>
      </p:sp>
      <p:sp>
        <p:nvSpPr>
          <p:cNvPr id="15" name="s2-body-1">
            <a:extLst xmlns:a="http://schemas.openxmlformats.org/drawingml/2006/main">
              <a:ext uri="{FF2B5EF4-FFF2-40B4-BE49-F238E27FC236}">
                <a16:creationId xmlns:a16="http://schemas.microsoft.com/office/drawing/2014/main" id="{D59E9E2A-D1F4-4AB2-A5E6-6212529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14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Offers a broad native</a:t>
            </a:r>
          </a:p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protocol surface</a:t>
            </a:r>
          </a:p>
        </p:txBody>
      </p:sp>
      <p:sp>
        <p:nvSpPr>
          <p:cNvPr id="16" name="s2-arrow-1">
            <a:extLst xmlns:a="http://schemas.openxmlformats.org/drawingml/2006/main">
              <a:ext uri="{FF2B5EF4-FFF2-40B4-BE49-F238E27FC236}">
                <a16:creationId xmlns:a16="http://schemas.microsoft.com/office/drawing/2014/main" id="{E5EF4887-DDE3-4B5C-BBDA-8434A691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04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2-block-2">
            <a:extLst xmlns:a="http://schemas.openxmlformats.org/drawingml/2006/main">
              <a:ext uri="{FF2B5EF4-FFF2-40B4-BE49-F238E27FC236}">
                <a16:creationId xmlns:a16="http://schemas.microsoft.com/office/drawing/2014/main" id="{887D8A06-A7F0-466A-99FB-FF85938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2-num-2">
            <a:extLst xmlns:a="http://schemas.openxmlformats.org/drawingml/2006/main">
              <a:ext uri="{FF2B5EF4-FFF2-40B4-BE49-F238E27FC236}">
                <a16:creationId xmlns:a16="http://schemas.microsoft.com/office/drawing/2014/main" id="{C8353604-C41E-43B9-93F3-92673EB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194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s2-title-2">
            <a:extLst xmlns:a="http://schemas.openxmlformats.org/drawingml/2006/main">
              <a:ext uri="{FF2B5EF4-FFF2-40B4-BE49-F238E27FC236}">
                <a16:creationId xmlns:a16="http://schemas.microsoft.com/office/drawing/2014/main" id="{BD96DF2C-DB5A-46BF-BC90-36E7CE1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57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OpenWand bridge</a:t>
            </a:r>
          </a:p>
        </p:txBody>
      </p:sp>
      <p:sp>
        <p:nvSpPr>
          <p:cNvPr id="20" name="s2-body-2">
            <a:extLst xmlns:a="http://schemas.openxmlformats.org/drawingml/2006/main">
              <a:ext uri="{FF2B5EF4-FFF2-40B4-BE49-F238E27FC236}">
                <a16:creationId xmlns:a16="http://schemas.microsoft.com/office/drawing/2014/main" id="{3B529DC3-EA0E-4732-B06C-BB69C26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14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Exposes only the</a:t>
            </a:r>
          </a:p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implemented subset</a:t>
            </a:r>
          </a:p>
        </p:txBody>
      </p:sp>
      <p:sp>
        <p:nvSpPr>
          <p:cNvPr id="21" name="s2-equation-bg">
            <a:extLst xmlns:a="http://schemas.openxmlformats.org/drawingml/2006/main">
              <a:ext uri="{FF2B5EF4-FFF2-40B4-BE49-F238E27FC236}">
                <a16:creationId xmlns:a16="http://schemas.microsoft.com/office/drawing/2014/main" id="{5B227C6E-C681-4449-95B9-F569C480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57775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2-equation">
            <a:extLst xmlns:a="http://schemas.openxmlformats.org/drawingml/2006/main">
              <a:ext uri="{FF2B5EF4-FFF2-40B4-BE49-F238E27FC236}">
                <a16:creationId xmlns:a16="http://schemas.microsoft.com/office/drawing/2014/main" id="{AE8B691E-CE94-436C-8A3F-95A88B68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capability = model + tools + context + controls + permissions</a:t>
            </a:r>
          </a:p>
        </p:txBody>
      </p:sp>
    </p:spTree>
    <p:extLst>
      <p:ext uri="{BB962C8B-B14F-4D97-AF65-F5344CB8AC3E}">
        <p14:creationId xmlns:p14="http://schemas.microsoft.com/office/powerpoint/2010/main" val="1967449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5">
            <a:extLst xmlns:a="http://schemas.openxmlformats.org/drawingml/2006/main">
              <a:ext uri="{FF2B5EF4-FFF2-40B4-BE49-F238E27FC236}">
                <a16:creationId xmlns:a16="http://schemas.microsoft.com/office/drawing/2014/main" id="{DB6D52EE-4459-4697-8B30-5286C79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1 · CORE TRUTH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E60C5CE-094E-4112-9D38-8FBAB3CA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Four labels keep the comparison honest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2E07CF69-CE22-4FCF-8A27-3AA052F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CA8293C6-23E7-4089-9475-0C1C4ACD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F76C0EE-55D8-4CBA-A3F4-B474DC4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3-status-0-bg">
            <a:extLst xmlns:a="http://schemas.openxmlformats.org/drawingml/2006/main">
              <a:ext uri="{FF2B5EF4-FFF2-40B4-BE49-F238E27FC236}">
                <a16:creationId xmlns:a16="http://schemas.microsoft.com/office/drawing/2014/main" id="{ECB01BED-C6EF-442E-BC8B-61669B38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status-0-text">
            <a:extLst xmlns:a="http://schemas.openxmlformats.org/drawingml/2006/main">
              <a:ext uri="{FF2B5EF4-FFF2-40B4-BE49-F238E27FC236}">
                <a16:creationId xmlns:a16="http://schemas.microsoft.com/office/drawing/2014/main" id="{AC676DE9-6943-4DA0-8898-06E9043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335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PRESERVED</a:t>
            </a:r>
          </a:p>
        </p:txBody>
      </p:sp>
      <p:sp>
        <p:nvSpPr>
          <p:cNvPr id="8" name="s3-copy-0">
            <a:extLst xmlns:a="http://schemas.openxmlformats.org/drawingml/2006/main">
              <a:ext uri="{FF2B5EF4-FFF2-40B4-BE49-F238E27FC236}">
                <a16:creationId xmlns:a16="http://schemas.microsoft.com/office/drawing/2014/main" id="{E707A67D-F638-4E5B-9DCE-D1A98CAC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526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explicitly passes or handles it today.</a:t>
            </a:r>
          </a:p>
        </p:txBody>
      </p:sp>
      <p:sp>
        <p:nvSpPr>
          <p:cNvPr id="9" name="s3-rule-0">
            <a:extLst xmlns:a="http://schemas.openxmlformats.org/drawingml/2006/main">
              <a:ext uri="{FF2B5EF4-FFF2-40B4-BE49-F238E27FC236}">
                <a16:creationId xmlns:a16="http://schemas.microsoft.com/office/drawing/2014/main" id="{B743C2FF-8906-4AFE-8D15-FD25827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status-1-bg">
            <a:extLst xmlns:a="http://schemas.openxmlformats.org/drawingml/2006/main">
              <a:ext uri="{FF2B5EF4-FFF2-40B4-BE49-F238E27FC236}">
                <a16:creationId xmlns:a16="http://schemas.microsoft.com/office/drawing/2014/main" id="{598D6C28-99A0-4903-89C3-AEF69481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status-1-text">
            <a:extLst xmlns:a="http://schemas.openxmlformats.org/drawingml/2006/main">
              <a:ext uri="{FF2B5EF4-FFF2-40B4-BE49-F238E27FC236}">
                <a16:creationId xmlns:a16="http://schemas.microsoft.com/office/drawing/2014/main" id="{AA82B68C-1DC3-451E-86C3-ED7A4BA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12" name="s3-copy-1">
            <a:extLst xmlns:a="http://schemas.openxmlformats.org/drawingml/2006/main">
              <a:ext uri="{FF2B5EF4-FFF2-40B4-BE49-F238E27FC236}">
                <a16:creationId xmlns:a16="http://schemas.microsoft.com/office/drawing/2014/main" id="{CAD492BB-DD65-40D8-892C-90F5EC14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43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Codex may still do it internally, but OpenWand does not expose, manage, or guarantee it.</a:t>
            </a:r>
          </a:p>
        </p:txBody>
      </p:sp>
      <p:sp>
        <p:nvSpPr>
          <p:cNvPr id="13" name="s3-rule-1">
            <a:extLst xmlns:a="http://schemas.openxmlformats.org/drawingml/2006/main">
              <a:ext uri="{FF2B5EF4-FFF2-40B4-BE49-F238E27FC236}">
                <a16:creationId xmlns:a16="http://schemas.microsoft.com/office/drawing/2014/main" id="{F490C5A6-06CA-4F36-A58B-06E0FF8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3-status-2-bg">
            <a:extLst xmlns:a="http://schemas.openxmlformats.org/drawingml/2006/main">
              <a:ext uri="{FF2B5EF4-FFF2-40B4-BE49-F238E27FC236}">
                <a16:creationId xmlns:a16="http://schemas.microsoft.com/office/drawing/2014/main" id="{3E8E10D9-348A-4E66-AF57-26119D6A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7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status-2-text">
            <a:extLst xmlns:a="http://schemas.openxmlformats.org/drawingml/2006/main">
              <a:ext uri="{FF2B5EF4-FFF2-40B4-BE49-F238E27FC236}">
                <a16:creationId xmlns:a16="http://schemas.microsoft.com/office/drawing/2014/main" id="{913F086A-D11A-498E-91E2-55B8F28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47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6" name="s3-copy-2">
            <a:extLst xmlns:a="http://schemas.openxmlformats.org/drawingml/2006/main">
              <a:ext uri="{FF2B5EF4-FFF2-40B4-BE49-F238E27FC236}">
                <a16:creationId xmlns:a16="http://schemas.microsoft.com/office/drawing/2014/main" id="{5FDE248C-34EF-4509-B101-DB50CD1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Native Codex supports it; the current OpenWand bridge does not call or handle it.</a:t>
            </a:r>
          </a:p>
        </p:txBody>
      </p:sp>
      <p:sp>
        <p:nvSpPr>
          <p:cNvPr id="17" name="s3-rule-2">
            <a:extLst xmlns:a="http://schemas.openxmlformats.org/drawingml/2006/main">
              <a:ext uri="{FF2B5EF4-FFF2-40B4-BE49-F238E27FC236}">
                <a16:creationId xmlns:a16="http://schemas.microsoft.com/office/drawing/2014/main" id="{07C85C1F-B11B-49D7-929F-997CB2F6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status-3-bg">
            <a:extLst xmlns:a="http://schemas.openxmlformats.org/drawingml/2006/main">
              <a:ext uri="{FF2B5EF4-FFF2-40B4-BE49-F238E27FC236}">
                <a16:creationId xmlns:a16="http://schemas.microsoft.com/office/drawing/2014/main" id="{BCE38D28-C20E-438F-8FE2-C328304D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status-3-text">
            <a:extLst xmlns:a="http://schemas.openxmlformats.org/drawingml/2006/main">
              <a:ext uri="{FF2B5EF4-FFF2-40B4-BE49-F238E27FC236}">
                <a16:creationId xmlns:a16="http://schemas.microsoft.com/office/drawing/2014/main" id="{16BB22AE-4946-473D-B43F-E11BA03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1428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4272B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0" name="s3-copy-3">
            <a:extLst xmlns:a="http://schemas.openxmlformats.org/drawingml/2006/main">
              <a:ext uri="{FF2B5EF4-FFF2-40B4-BE49-F238E27FC236}">
                <a16:creationId xmlns:a16="http://schemas.microsoft.com/office/drawing/2014/main" id="{2A03E908-D497-47EE-943D-9C7247E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244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deliberately isolates or blocks it for security or product-policy reasons.</a:t>
            </a:r>
          </a:p>
        </p:txBody>
      </p:sp>
      <p:sp>
        <p:nvSpPr>
          <p:cNvPr id="21" name="s3-rule-3">
            <a:extLst xmlns:a="http://schemas.openxmlformats.org/drawingml/2006/main">
              <a:ext uri="{FF2B5EF4-FFF2-40B4-BE49-F238E27FC236}">
                <a16:creationId xmlns:a16="http://schemas.microsoft.com/office/drawing/2014/main" id="{0312ABFE-A01F-42C8-B350-7802C19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3-note">
            <a:extLst xmlns:a="http://schemas.openxmlformats.org/drawingml/2006/main">
              <a:ext uri="{FF2B5EF4-FFF2-40B4-BE49-F238E27FC236}">
                <a16:creationId xmlns:a16="http://schemas.microsoft.com/office/drawing/2014/main" id="{97706A9A-A588-4E0E-8A41-6E111425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769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09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B63"/>
                </a:solidFill>
                <a:latin typeface="Arial"/>
                <a:ea typeface="Arial"/>
                <a:cs typeface="Arial"/>
              </a:rPr>
              <a:t>“Partial” is especially important: it avoids claiming that skills, MCP, subagents, hooks, or web features are simply impossible.</a:t>
            </a:r>
          </a:p>
        </p:txBody>
      </p:sp>
    </p:spTree>
    <p:extLst>
      <p:ext uri="{BB962C8B-B14F-4D97-AF65-F5344CB8AC3E}">
        <p14:creationId xmlns:p14="http://schemas.microsoft.com/office/powerpoint/2010/main" val="1349997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6">
            <a:extLst xmlns:a="http://schemas.openxmlformats.org/drawingml/2006/main">
              <a:ext uri="{FF2B5EF4-FFF2-40B4-BE49-F238E27FC236}">
                <a16:creationId xmlns:a16="http://schemas.microsoft.com/office/drawing/2014/main" id="{D76D664E-134C-4605-8A7C-06AFB19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1 · CORE TRUTH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9CD8851-25B4-4748-B3FF-75F6C38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core coding loop is preserved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749226F9-E2FB-416B-B785-557713D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7DE3FB4F-5001-4668-9C79-C47702C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CEDC1DA-9711-48EC-A71B-DE6EC959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4-banner">
            <a:extLst xmlns:a="http://schemas.openxmlformats.org/drawingml/2006/main">
              <a:ext uri="{FF2B5EF4-FFF2-40B4-BE49-F238E27FC236}">
                <a16:creationId xmlns:a16="http://schemas.microsoft.com/office/drawing/2014/main" id="{AC4B68BA-4C94-42C9-A578-F3E05488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972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banner-text">
            <a:extLst xmlns:a="http://schemas.openxmlformats.org/drawingml/2006/main">
              <a:ext uri="{FF2B5EF4-FFF2-40B4-BE49-F238E27FC236}">
                <a16:creationId xmlns:a16="http://schemas.microsoft.com/office/drawing/2014/main" id="{F5A28088-8A8A-4254-8D14-76DC47B1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24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272B"/>
                </a:solidFill>
                <a:latin typeface="Arial"/>
                <a:ea typeface="Arial"/>
                <a:cs typeface="Arial"/>
              </a:rPr>
              <a:t>The important foundation is real: the model can still reason, inspect a workspace, run commands, edit files, and stream its work.</a:t>
            </a:r>
          </a:p>
        </p:txBody>
      </p:sp>
      <p:sp>
        <p:nvSpPr>
          <p:cNvPr id="8" name="s4-left-label">
            <a:extLst xmlns:a="http://schemas.openxmlformats.org/drawingml/2006/main">
              <a:ext uri="{FF2B5EF4-FFF2-40B4-BE49-F238E27FC236}">
                <a16:creationId xmlns:a16="http://schemas.microsoft.com/office/drawing/2014/main" id="{A956AF78-63E8-478F-AB43-EC365731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 + RESPONSE</a:t>
            </a:r>
          </a:p>
        </p:txBody>
      </p:sp>
      <p:sp>
        <p:nvSpPr>
          <p:cNvPr id="9" name="s4-right-label">
            <a:extLst xmlns:a="http://schemas.openxmlformats.org/drawingml/2006/main">
              <a:ext uri="{FF2B5EF4-FFF2-40B4-BE49-F238E27FC236}">
                <a16:creationId xmlns:a16="http://schemas.microsoft.com/office/drawing/2014/main" id="{AFD4E214-B1BB-4B12-9075-8BD92C7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WORKSPACE + CONTROL</a:t>
            </a:r>
          </a:p>
        </p:txBody>
      </p:sp>
      <p:sp>
        <p:nvSpPr>
          <p:cNvPr id="10" name="s4-l-0-tick">
            <a:extLst xmlns:a="http://schemas.openxmlformats.org/drawingml/2006/main">
              <a:ext uri="{FF2B5EF4-FFF2-40B4-BE49-F238E27FC236}">
                <a16:creationId xmlns:a16="http://schemas.microsoft.com/office/drawing/2014/main" id="{FE2437EF-92F5-4534-9C43-FA60B40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l-0-title">
            <a:extLst xmlns:a="http://schemas.openxmlformats.org/drawingml/2006/main">
              <a:ext uri="{FF2B5EF4-FFF2-40B4-BE49-F238E27FC236}">
                <a16:creationId xmlns:a16="http://schemas.microsoft.com/office/drawing/2014/main" id="{52A417EE-02EF-4A2D-B348-A7052BE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Codex model</a:t>
            </a:r>
          </a:p>
        </p:txBody>
      </p:sp>
      <p:sp>
        <p:nvSpPr>
          <p:cNvPr id="12" name="s4-l-0-body">
            <a:extLst xmlns:a="http://schemas.openxmlformats.org/drawingml/2006/main">
              <a:ext uri="{FF2B5EF4-FFF2-40B4-BE49-F238E27FC236}">
                <a16:creationId xmlns:a16="http://schemas.microsoft.com/office/drawing/2014/main" id="{8A9428A6-1C9A-42EE-A41A-D8E1849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No substitute model is inserted by the bridge.</a:t>
            </a:r>
          </a:p>
        </p:txBody>
      </p:sp>
      <p:sp>
        <p:nvSpPr>
          <p:cNvPr id="13" name="s4-l-1-tick">
            <a:extLst xmlns:a="http://schemas.openxmlformats.org/drawingml/2006/main">
              <a:ext uri="{FF2B5EF4-FFF2-40B4-BE49-F238E27FC236}">
                <a16:creationId xmlns:a16="http://schemas.microsoft.com/office/drawing/2014/main" id="{5CA44915-15E6-488D-9832-1AF6E326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l-1-title">
            <a:extLst xmlns:a="http://schemas.openxmlformats.org/drawingml/2006/main">
              <a:ext uri="{FF2B5EF4-FFF2-40B4-BE49-F238E27FC236}">
                <a16:creationId xmlns:a16="http://schemas.microsoft.com/office/drawing/2014/main" id="{30B2203B-6B03-4BD6-9594-AFD52F7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and reasoning choice</a:t>
            </a:r>
          </a:p>
        </p:txBody>
      </p:sp>
      <p:sp>
        <p:nvSpPr>
          <p:cNvPr id="15" name="s4-l-1-body">
            <a:extLst xmlns:a="http://schemas.openxmlformats.org/drawingml/2006/main">
              <a:ext uri="{FF2B5EF4-FFF2-40B4-BE49-F238E27FC236}">
                <a16:creationId xmlns:a16="http://schemas.microsoft.com/office/drawing/2014/main" id="{0DF121AE-BAD0-42C8-9B65-06EA00E2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Model, reasoning effort, summary, and fast/priority mode are passed.</a:t>
            </a:r>
          </a:p>
        </p:txBody>
      </p:sp>
      <p:sp>
        <p:nvSpPr>
          <p:cNvPr id="16" name="s4-l-2-tick">
            <a:extLst xmlns:a="http://schemas.openxmlformats.org/drawingml/2006/main">
              <a:ext uri="{FF2B5EF4-FFF2-40B4-BE49-F238E27FC236}">
                <a16:creationId xmlns:a16="http://schemas.microsoft.com/office/drawing/2014/main" id="{20CFE670-B550-47C8-B2D5-2E14F96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l-2-title">
            <a:extLst xmlns:a="http://schemas.openxmlformats.org/drawingml/2006/main">
              <a:ext uri="{FF2B5EF4-FFF2-40B4-BE49-F238E27FC236}">
                <a16:creationId xmlns:a16="http://schemas.microsoft.com/office/drawing/2014/main" id="{3F3EE9FB-3A2B-4BFD-89D6-2F9017E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Streaming output</a:t>
            </a:r>
          </a:p>
        </p:txBody>
      </p:sp>
      <p:sp>
        <p:nvSpPr>
          <p:cNvPr id="18" name="s4-l-2-body">
            <a:extLst xmlns:a="http://schemas.openxmlformats.org/drawingml/2006/main">
              <a:ext uri="{FF2B5EF4-FFF2-40B4-BE49-F238E27FC236}">
                <a16:creationId xmlns:a16="http://schemas.microsoft.com/office/drawing/2014/main" id="{4353F134-11EE-4E64-86C1-07CBF7B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Replies, reasoning summaries, and basic progress arrive incrementally.</a:t>
            </a:r>
          </a:p>
        </p:txBody>
      </p:sp>
      <p:sp>
        <p:nvSpPr>
          <p:cNvPr id="19" name="s4-l-3-tick">
            <a:extLst xmlns:a="http://schemas.openxmlformats.org/drawingml/2006/main">
              <a:ext uri="{FF2B5EF4-FFF2-40B4-BE49-F238E27FC236}">
                <a16:creationId xmlns:a16="http://schemas.microsoft.com/office/drawing/2014/main" id="{DB52B997-0E9C-432A-A9C4-D5E0825B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l-3-title">
            <a:extLst xmlns:a="http://schemas.openxmlformats.org/drawingml/2006/main">
              <a:ext uri="{FF2B5EF4-FFF2-40B4-BE49-F238E27FC236}">
                <a16:creationId xmlns:a16="http://schemas.microsoft.com/office/drawing/2014/main" id="{8675EC20-8980-44BA-A0CF-6069BF12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74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Conversation continuation</a:t>
            </a:r>
          </a:p>
        </p:txBody>
      </p:sp>
      <p:sp>
        <p:nvSpPr>
          <p:cNvPr id="21" name="s4-l-3-body">
            <a:extLst xmlns:a="http://schemas.openxmlformats.org/drawingml/2006/main">
              <a:ext uri="{FF2B5EF4-FFF2-40B4-BE49-F238E27FC236}">
                <a16:creationId xmlns:a16="http://schemas.microsoft.com/office/drawing/2014/main" id="{DB57655E-04D6-402C-9B48-3046BF6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resumes the Codex thread ID for later turns.</a:t>
            </a:r>
          </a:p>
        </p:txBody>
      </p:sp>
      <p:sp>
        <p:nvSpPr>
          <p:cNvPr id="22" name="s4-r-0-tick">
            <a:extLst xmlns:a="http://schemas.openxmlformats.org/drawingml/2006/main">
              <a:ext uri="{FF2B5EF4-FFF2-40B4-BE49-F238E27FC236}">
                <a16:creationId xmlns:a16="http://schemas.microsoft.com/office/drawing/2014/main" id="{9158C7A9-66FF-416E-A7B4-594E3D3B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r-0-title">
            <a:extLst xmlns:a="http://schemas.openxmlformats.org/drawingml/2006/main">
              <a:ext uri="{FF2B5EF4-FFF2-40B4-BE49-F238E27FC236}">
                <a16:creationId xmlns:a16="http://schemas.microsoft.com/office/drawing/2014/main" id="{677513E1-65E8-405F-B7DD-D36ECF9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Shell and file work</a:t>
            </a:r>
          </a:p>
        </p:txBody>
      </p:sp>
      <p:sp>
        <p:nvSpPr>
          <p:cNvPr id="24" name="s4-r-0-body">
            <a:extLst xmlns:a="http://schemas.openxmlformats.org/drawingml/2006/main">
              <a:ext uri="{FF2B5EF4-FFF2-40B4-BE49-F238E27FC236}">
                <a16:creationId xmlns:a16="http://schemas.microsoft.com/office/drawing/2014/main" id="{3ECEE06A-734C-41AA-973B-DF8122F7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498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Commands, file reads, edits, and patches remain available.</a:t>
            </a:r>
          </a:p>
        </p:txBody>
      </p:sp>
      <p:sp>
        <p:nvSpPr>
          <p:cNvPr id="25" name="s4-r-1-tick">
            <a:extLst xmlns:a="http://schemas.openxmlformats.org/drawingml/2006/main">
              <a:ext uri="{FF2B5EF4-FFF2-40B4-BE49-F238E27FC236}">
                <a16:creationId xmlns:a16="http://schemas.microsoft.com/office/drawing/2014/main" id="{076071D7-6A16-4592-9E75-37713DDF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4-r-1-title">
            <a:extLst xmlns:a="http://schemas.openxmlformats.org/drawingml/2006/main">
              <a:ext uri="{FF2B5EF4-FFF2-40B4-BE49-F238E27FC236}">
                <a16:creationId xmlns:a16="http://schemas.microsoft.com/office/drawing/2014/main" id="{087DD062-E5F4-4B17-8CB5-4A1799D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Approvals and sandbox</a:t>
            </a:r>
          </a:p>
        </p:txBody>
      </p:sp>
      <p:sp>
        <p:nvSpPr>
          <p:cNvPr id="27" name="s4-r-1-body">
            <a:extLst xmlns:a="http://schemas.openxmlformats.org/drawingml/2006/main">
              <a:ext uri="{FF2B5EF4-FFF2-40B4-BE49-F238E27FC236}">
                <a16:creationId xmlns:a16="http://schemas.microsoft.com/office/drawing/2014/main" id="{F119B6DC-4E19-4CB1-91E8-D4A3E36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498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Command/file decisions and workspace boundaries are enforced.</a:t>
            </a:r>
          </a:p>
        </p:txBody>
      </p:sp>
      <p:sp>
        <p:nvSpPr>
          <p:cNvPr id="28" name="s4-r-2-tick">
            <a:extLst xmlns:a="http://schemas.openxmlformats.org/drawingml/2006/main">
              <a:ext uri="{FF2B5EF4-FFF2-40B4-BE49-F238E27FC236}">
                <a16:creationId xmlns:a16="http://schemas.microsoft.com/office/drawing/2014/main" id="{017EE25F-51EC-4AAA-9F47-0154EF4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r-2-title">
            <a:extLst xmlns:a="http://schemas.openxmlformats.org/drawingml/2006/main">
              <a:ext uri="{FF2B5EF4-FFF2-40B4-BE49-F238E27FC236}">
                <a16:creationId xmlns:a16="http://schemas.microsoft.com/office/drawing/2014/main" id="{FA874A71-B81A-4000-AF3D-8FA6D4E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images + vision</a:t>
            </a:r>
          </a:p>
        </p:txBody>
      </p:sp>
      <p:sp>
        <p:nvSpPr>
          <p:cNvPr id="30" name="s4-r-2-body">
            <a:extLst xmlns:a="http://schemas.openxmlformats.org/drawingml/2006/main">
              <a:ext uri="{FF2B5EF4-FFF2-40B4-BE49-F238E27FC236}">
                <a16:creationId xmlns:a16="http://schemas.microsoft.com/office/drawing/2014/main" id="{D6188869-0391-4E4A-9491-FAE9C705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2025"/>
            <a:ext cx="498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Local screenshots are sent as localImage inputs.</a:t>
            </a:r>
          </a:p>
        </p:txBody>
      </p:sp>
      <p:sp>
        <p:nvSpPr>
          <p:cNvPr id="31" name="s4-r-3-tick">
            <a:extLst xmlns:a="http://schemas.openxmlformats.org/drawingml/2006/main">
              <a:ext uri="{FF2B5EF4-FFF2-40B4-BE49-F238E27FC236}">
                <a16:creationId xmlns:a16="http://schemas.microsoft.com/office/drawing/2014/main" id="{695B5C57-48FF-496A-8A51-27F6479D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4-r-3-title">
            <a:extLst xmlns:a="http://schemas.openxmlformats.org/drawingml/2006/main">
              <a:ext uri="{FF2B5EF4-FFF2-40B4-BE49-F238E27FC236}">
                <a16:creationId xmlns:a16="http://schemas.microsoft.com/office/drawing/2014/main" id="{9312E9BA-1521-4C89-B5FC-B458B09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Basic activity reporting</a:t>
            </a:r>
          </a:p>
        </p:txBody>
      </p:sp>
      <p:sp>
        <p:nvSpPr>
          <p:cNvPr id="33" name="s4-r-3-body">
            <a:extLst xmlns:a="http://schemas.openxmlformats.org/drawingml/2006/main">
              <a:ext uri="{FF2B5EF4-FFF2-40B4-BE49-F238E27FC236}">
                <a16:creationId xmlns:a16="http://schemas.microsoft.com/office/drawing/2014/main" id="{344B3163-BB8A-44B7-98AC-E7C235A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95925"/>
            <a:ext cx="4981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Command and file progress is surfaced to the UI.</a:t>
            </a:r>
          </a:p>
        </p:txBody>
      </p:sp>
    </p:spTree>
    <p:extLst>
      <p:ext uri="{BB962C8B-B14F-4D97-AF65-F5344CB8AC3E}">
        <p14:creationId xmlns:p14="http://schemas.microsoft.com/office/powerpoint/2010/main" val="404901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kicker-7">
            <a:extLst xmlns:a="http://schemas.openxmlformats.org/drawingml/2006/main">
              <a:ext uri="{FF2B5EF4-FFF2-40B4-BE49-F238E27FC236}">
                <a16:creationId xmlns:a16="http://schemas.microsoft.com/office/drawing/2014/main" id="{62C5A6E2-C77E-44FF-9E51-C8217447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02 OF 05</a:t>
            </a:r>
          </a:p>
        </p:txBody>
      </p:sp>
      <p:sp>
        <p:nvSpPr>
          <p:cNvPr id="2" name="section-page-7">
            <a:extLst xmlns:a="http://schemas.openxmlformats.org/drawingml/2006/main">
              <a:ext uri="{FF2B5EF4-FFF2-40B4-BE49-F238E27FC236}">
                <a16:creationId xmlns:a16="http://schemas.microsoft.com/office/drawing/2014/main" id="{56EAE014-7831-403F-A74D-678D675C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ection-rule-7">
            <a:extLst xmlns:a="http://schemas.openxmlformats.org/drawingml/2006/main">
              <a:ext uri="{FF2B5EF4-FFF2-40B4-BE49-F238E27FC236}">
                <a16:creationId xmlns:a16="http://schemas.microsoft.com/office/drawing/2014/main" id="{0A49E6A6-0CF5-418C-9EED-BE2E9E61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-7">
            <a:extLst xmlns:a="http://schemas.openxmlformats.org/drawingml/2006/main">
              <a:ext uri="{FF2B5EF4-FFF2-40B4-BE49-F238E27FC236}">
                <a16:creationId xmlns:a16="http://schemas.microsoft.com/office/drawing/2014/main" id="{B0893F34-1518-4AF1-9AEB-B43E2A1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Capability gaps</a:t>
            </a:r>
          </a:p>
        </p:txBody>
      </p:sp>
      <p:sp>
        <p:nvSpPr>
          <p:cNvPr id="5" name="section-subtitle-7">
            <a:extLst xmlns:a="http://schemas.openxmlformats.org/drawingml/2006/main">
              <a:ext uri="{FF2B5EF4-FFF2-40B4-BE49-F238E27FC236}">
                <a16:creationId xmlns:a16="http://schemas.microsoft.com/office/drawing/2014/main" id="{DEF1880E-91CE-488E-9B23-E602E09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The missing power is concentrated in four workflows around the model—not in the model itself.</a:t>
            </a:r>
          </a:p>
        </p:txBody>
      </p:sp>
      <p:sp>
        <p:nvSpPr>
          <p:cNvPr id="6" name="section-item-num-7-0">
            <a:extLst xmlns:a="http://schemas.openxmlformats.org/drawingml/2006/main">
              <a:ext uri="{FF2B5EF4-FFF2-40B4-BE49-F238E27FC236}">
                <a16:creationId xmlns:a16="http://schemas.microsoft.com/office/drawing/2014/main" id="{432CC1FF-78C6-4E29-8D38-9203F870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ection-item-7-0">
            <a:extLst xmlns:a="http://schemas.openxmlformats.org/drawingml/2006/main">
              <a:ext uri="{FF2B5EF4-FFF2-40B4-BE49-F238E27FC236}">
                <a16:creationId xmlns:a16="http://schemas.microsoft.com/office/drawing/2014/main" id="{BD599906-6D2D-49D5-93B1-F8CFE44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Extend</a:t>
            </a:r>
          </a:p>
        </p:txBody>
      </p:sp>
      <p:sp>
        <p:nvSpPr>
          <p:cNvPr id="8" name="section-item-num-7-1">
            <a:extLst xmlns:a="http://schemas.openxmlformats.org/drawingml/2006/main">
              <a:ext uri="{FF2B5EF4-FFF2-40B4-BE49-F238E27FC236}">
                <a16:creationId xmlns:a16="http://schemas.microsoft.com/office/drawing/2014/main" id="{1FFDB8B2-F293-49D3-8BEC-F08DBDA1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ection-item-7-1">
            <a:extLst xmlns:a="http://schemas.openxmlformats.org/drawingml/2006/main">
              <a:ext uri="{FF2B5EF4-FFF2-40B4-BE49-F238E27FC236}">
                <a16:creationId xmlns:a16="http://schemas.microsoft.com/office/drawing/2014/main" id="{5196FC48-B63B-4594-89F4-514294B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Interact + manage</a:t>
            </a:r>
          </a:p>
        </p:txBody>
      </p:sp>
      <p:sp>
        <p:nvSpPr>
          <p:cNvPr id="10" name="section-item-num-7-2">
            <a:extLst xmlns:a="http://schemas.openxmlformats.org/drawingml/2006/main">
              <a:ext uri="{FF2B5EF4-FFF2-40B4-BE49-F238E27FC236}">
                <a16:creationId xmlns:a16="http://schemas.microsoft.com/office/drawing/2014/main" id="{0FC0EC5E-D0BF-4D33-AEF8-4ACAF1E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ection-item-7-2">
            <a:extLst xmlns:a="http://schemas.openxmlformats.org/drawingml/2006/main">
              <a:ext uri="{FF2B5EF4-FFF2-40B4-BE49-F238E27FC236}">
                <a16:creationId xmlns:a16="http://schemas.microsoft.com/office/drawing/2014/main" id="{7CDD7D3B-EEEA-45FE-9F3A-163FCD2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2" name="section-accent-7">
            <a:extLst xmlns:a="http://schemas.openxmlformats.org/drawingml/2006/main">
              <a:ext uri="{FF2B5EF4-FFF2-40B4-BE49-F238E27FC236}">
                <a16:creationId xmlns:a16="http://schemas.microsoft.com/office/drawing/2014/main" id="{E59AF617-1C45-45A1-9AE9-9D8BE51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1675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4375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8">
            <a:extLst xmlns:a="http://schemas.openxmlformats.org/drawingml/2006/main">
              <a:ext uri="{FF2B5EF4-FFF2-40B4-BE49-F238E27FC236}">
                <a16:creationId xmlns:a16="http://schemas.microsoft.com/office/drawing/2014/main" id="{CEB699C4-2AA1-4D97-8520-3838F81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86101DD-9322-4003-80E7-D805E26A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 parity loss sits outside the model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F3D1EAA5-097D-4952-9B48-3F9E9C6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BAB6882B-0CBB-4404-A30A-7E84A868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336E71A-BB3C-422C-9467-D9FD8A5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s5-big">
            <a:extLst xmlns:a="http://schemas.openxmlformats.org/drawingml/2006/main">
              <a:ext uri="{FF2B5EF4-FFF2-40B4-BE49-F238E27FC236}">
                <a16:creationId xmlns:a16="http://schemas.microsoft.com/office/drawing/2014/main" id="{5C8AFA38-83D6-44F4-9173-586A509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42386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gap is the surrounding agent platform.</a:t>
            </a:r>
          </a:p>
        </p:txBody>
      </p:sp>
      <p:sp>
        <p:nvSpPr>
          <p:cNvPr id="7" name="s5-small">
            <a:extLst xmlns:a="http://schemas.openxmlformats.org/drawingml/2006/main">
              <a:ext uri="{FF2B5EF4-FFF2-40B4-BE49-F238E27FC236}">
                <a16:creationId xmlns:a16="http://schemas.microsoft.com/office/drawing/2014/main" id="{82FF8A1A-D9B1-4220-B9D4-3412989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Four areas account for nearly every missing capability.</a:t>
            </a:r>
          </a:p>
        </p:txBody>
      </p:sp>
      <p:sp>
        <p:nvSpPr>
          <p:cNvPr id="8" name="s5-num-0">
            <a:extLst xmlns:a="http://schemas.openxmlformats.org/drawingml/2006/main">
              <a:ext uri="{FF2B5EF4-FFF2-40B4-BE49-F238E27FC236}">
                <a16:creationId xmlns:a16="http://schemas.microsoft.com/office/drawing/2014/main" id="{84612F72-A0D7-4D90-8A8D-13FD47F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5-title-0">
            <a:extLst xmlns:a="http://schemas.openxmlformats.org/drawingml/2006/main">
              <a:ext uri="{FF2B5EF4-FFF2-40B4-BE49-F238E27FC236}">
                <a16:creationId xmlns:a16="http://schemas.microsoft.com/office/drawing/2014/main" id="{A1064522-D29C-491F-8F44-5AB5DE9A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Extend</a:t>
            </a:r>
          </a:p>
        </p:txBody>
      </p:sp>
      <p:sp>
        <p:nvSpPr>
          <p:cNvPr id="10" name="s5-body-0">
            <a:extLst xmlns:a="http://schemas.openxmlformats.org/drawingml/2006/main">
              <a:ext uri="{FF2B5EF4-FFF2-40B4-BE49-F238E27FC236}">
                <a16:creationId xmlns:a16="http://schemas.microsoft.com/office/drawing/2014/main" id="{E4308D2A-7116-425B-B11E-27BB91B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430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Apps, plugins, client tools, skills, and MCP</a:t>
            </a:r>
          </a:p>
        </p:txBody>
      </p:sp>
      <p:sp>
        <p:nvSpPr>
          <p:cNvPr id="11" name="s5-rule-0">
            <a:extLst xmlns:a="http://schemas.openxmlformats.org/drawingml/2006/main">
              <a:ext uri="{FF2B5EF4-FFF2-40B4-BE49-F238E27FC236}">
                <a16:creationId xmlns:a16="http://schemas.microsoft.com/office/drawing/2014/main" id="{EBF350F6-B98F-4F39-B970-37798C90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num-1">
            <a:extLst xmlns:a="http://schemas.openxmlformats.org/drawingml/2006/main">
              <a:ext uri="{FF2B5EF4-FFF2-40B4-BE49-F238E27FC236}">
                <a16:creationId xmlns:a16="http://schemas.microsoft.com/office/drawing/2014/main" id="{5DB801B1-7D15-489B-82E5-D52B09A4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s5-title-1">
            <a:extLst xmlns:a="http://schemas.openxmlformats.org/drawingml/2006/main">
              <a:ext uri="{FF2B5EF4-FFF2-40B4-BE49-F238E27FC236}">
                <a16:creationId xmlns:a16="http://schemas.microsoft.com/office/drawing/2014/main" id="{7E7551D4-D16F-4171-9CF7-A60FD18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14" name="s5-body-1">
            <a:extLst xmlns:a="http://schemas.openxmlformats.org/drawingml/2006/main">
              <a:ext uri="{FF2B5EF4-FFF2-40B4-BE49-F238E27FC236}">
                <a16:creationId xmlns:a16="http://schemas.microsoft.com/office/drawing/2014/main" id="{8C1DC36E-2120-461F-B3EF-D07B62C0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43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Questions, forms, steering, cancellation, and approvals</a:t>
            </a:r>
          </a:p>
        </p:txBody>
      </p:sp>
      <p:sp>
        <p:nvSpPr>
          <p:cNvPr id="15" name="s5-rule-1">
            <a:extLst xmlns:a="http://schemas.openxmlformats.org/drawingml/2006/main">
              <a:ext uri="{FF2B5EF4-FFF2-40B4-BE49-F238E27FC236}">
                <a16:creationId xmlns:a16="http://schemas.microsoft.com/office/drawing/2014/main" id="{10A4C819-CA33-44EC-907B-0D2EEFD2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5-num-2">
            <a:extLst xmlns:a="http://schemas.openxmlformats.org/drawingml/2006/main">
              <a:ext uri="{FF2B5EF4-FFF2-40B4-BE49-F238E27FC236}">
                <a16:creationId xmlns:a16="http://schemas.microsoft.com/office/drawing/2014/main" id="{BE310B4B-03D1-4E93-A1D8-85A3E04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s5-title-2">
            <a:extLst xmlns:a="http://schemas.openxmlformats.org/drawingml/2006/main">
              <a:ext uri="{FF2B5EF4-FFF2-40B4-BE49-F238E27FC236}">
                <a16:creationId xmlns:a16="http://schemas.microsoft.com/office/drawing/2014/main" id="{0D819850-0AA0-45DF-8AD4-7826E91D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s5-body-2">
            <a:extLst xmlns:a="http://schemas.openxmlformats.org/drawingml/2006/main">
              <a:ext uri="{FF2B5EF4-FFF2-40B4-BE49-F238E27FC236}">
                <a16:creationId xmlns:a16="http://schemas.microsoft.com/office/drawing/2014/main" id="{2E2A57EB-4F30-43C6-995D-920B7E7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433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Threads, compaction, review, terminals, and worktrees</a:t>
            </a:r>
          </a:p>
        </p:txBody>
      </p:sp>
      <p:sp>
        <p:nvSpPr>
          <p:cNvPr id="19" name="s5-rule-2">
            <a:extLst xmlns:a="http://schemas.openxmlformats.org/drawingml/2006/main">
              <a:ext uri="{FF2B5EF4-FFF2-40B4-BE49-F238E27FC236}">
                <a16:creationId xmlns:a16="http://schemas.microsoft.com/office/drawing/2014/main" id="{A861B5E6-A18F-4375-A095-65180D73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29125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num-3">
            <a:extLst xmlns:a="http://schemas.openxmlformats.org/drawingml/2006/main">
              <a:ext uri="{FF2B5EF4-FFF2-40B4-BE49-F238E27FC236}">
                <a16:creationId xmlns:a16="http://schemas.microsoft.com/office/drawing/2014/main" id="{9B8449C2-DC38-49A7-8185-71C1120F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910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s5-title-3">
            <a:extLst xmlns:a="http://schemas.openxmlformats.org/drawingml/2006/main">
              <a:ext uri="{FF2B5EF4-FFF2-40B4-BE49-F238E27FC236}">
                <a16:creationId xmlns:a16="http://schemas.microsoft.com/office/drawing/2014/main" id="{9E3469AA-235E-4915-AEE3-20DE396A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14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22" name="s5-body-3">
            <a:extLst xmlns:a="http://schemas.openxmlformats.org/drawingml/2006/main">
              <a:ext uri="{FF2B5EF4-FFF2-40B4-BE49-F238E27FC236}">
                <a16:creationId xmlns:a16="http://schemas.microsoft.com/office/drawing/2014/main" id="{317AA570-26DD-452C-83BD-87B3BDD7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43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Models, feature flags, status, hooks, and configuration</a:t>
            </a:r>
          </a:p>
        </p:txBody>
      </p:sp>
      <p:sp>
        <p:nvSpPr>
          <p:cNvPr id="23" name="s5-rule-3">
            <a:extLst xmlns:a="http://schemas.openxmlformats.org/drawingml/2006/main">
              <a:ext uri="{FF2B5EF4-FFF2-40B4-BE49-F238E27FC236}">
                <a16:creationId xmlns:a16="http://schemas.microsoft.com/office/drawing/2014/main" id="{20201B21-B33B-433C-863F-E850B507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645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1821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9">
            <a:extLst xmlns:a="http://schemas.openxmlformats.org/drawingml/2006/main">
              <a:ext uri="{FF2B5EF4-FFF2-40B4-BE49-F238E27FC236}">
                <a16:creationId xmlns:a16="http://schemas.microsoft.com/office/drawing/2014/main" id="{A366CDEC-4F94-48FE-8D25-AD246C7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E79B823-0DB0-4F67-8E64-B3203F97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Extensibility: more ways to gain tools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0DBA5C9B-5F34-4065-8014-1BBBD83B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E9B51D8B-DA98-47B2-BF0C-3D59713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ABFACC7-F820-4EF5-BCD5-549FE91C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s6-intro">
            <a:extLst xmlns:a="http://schemas.openxmlformats.org/drawingml/2006/main">
              <a:ext uri="{FF2B5EF4-FFF2-40B4-BE49-F238E27FC236}">
                <a16:creationId xmlns:a16="http://schemas.microsoft.com/office/drawing/2014/main" id="{E458A07C-BB3D-4C4C-9A7E-1082288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currently reaches the model, but not the full ecosystem around it.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00050" y="1866900"/>
          <a:ext xmlns:a="http://schemas.openxmlformats.org/drawingml/2006/main" cx="11391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43375"/>
                <a:gridCol w="4581525"/>
              </a:tblGrid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Apps / connectors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installed-app browser, structured app mention, or connector invocation surface.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model cannot reliably use connected services through OpenWand.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Plugin management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marketplace, install, enable/disable, or update experience.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Plugin-provided capabilities are not a supported product path.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Client-provided tools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OpenWand tools are not registered as dynamic app-server tools.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model cannot call OpenWand-native actions as first-class tools.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Skills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May be discovered from files or a typed $skill name; no picker/list/injection/state UI.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Skills may work, but OpenWand cannot promise or explain which ones.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MCP servers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May work inside the isolated Codex profile; no status/config/auth elicitation UI.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 configured server can work, but onboarding and recovery are fragile.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eyebrow-front-9">
            <a:extLst xmlns:a="http://schemas.openxmlformats.org/drawingml/2006/main">
              <a:ext uri="{FF2B5EF4-FFF2-40B4-BE49-F238E27FC236}">
                <a16:creationId xmlns:a16="http://schemas.microsoft.com/office/drawing/2014/main" id="{91A6A346-284C-4F3A-B4B3-44EA8B66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9" name="header-rule-front-9">
            <a:extLst xmlns:a="http://schemas.openxmlformats.org/drawingml/2006/main">
              <a:ext uri="{FF2B5EF4-FFF2-40B4-BE49-F238E27FC236}">
                <a16:creationId xmlns:a16="http://schemas.microsoft.com/office/drawing/2014/main" id="{AD4F4CB0-C1FE-4EC2-A66C-21840489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section-front-9">
            <a:extLst xmlns:a="http://schemas.openxmlformats.org/drawingml/2006/main">
              <a:ext uri="{FF2B5EF4-FFF2-40B4-BE49-F238E27FC236}">
                <a16:creationId xmlns:a16="http://schemas.microsoft.com/office/drawing/2014/main" id="{C0FFCAEA-D137-46E1-8EBF-769AB6B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</p:spTree>
    <p:extLst>
      <p:ext uri="{BB962C8B-B14F-4D97-AF65-F5344CB8AC3E}">
        <p14:creationId xmlns:p14="http://schemas.microsoft.com/office/powerpoint/2010/main" val="341492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0">
            <a:extLst xmlns:a="http://schemas.openxmlformats.org/drawingml/2006/main">
              <a:ext uri="{FF2B5EF4-FFF2-40B4-BE49-F238E27FC236}">
                <a16:creationId xmlns:a16="http://schemas.microsoft.com/office/drawing/2014/main" id="{9E831534-B60D-4FE9-AC22-E9BD938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22C94E6-0820-4C17-BEB3-17E5F36A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 interaction: OpenWand cannot carry every dialogue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D92E0831-1183-4BC4-B1C5-5C63FD9C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714E7D16-89E4-43F2-A34A-ED3D52D7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6FC6FAB-E8D0-4785-840A-CF83D11C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7-intro">
            <a:extLst xmlns:a="http://schemas.openxmlformats.org/drawingml/2006/main">
              <a:ext uri="{FF2B5EF4-FFF2-40B4-BE49-F238E27FC236}">
                <a16:creationId xmlns:a16="http://schemas.microsoft.com/office/drawing/2014/main" id="{B5B89DC6-DB63-4228-9E3A-0333F362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Native Codex can pause, ask, steer, interrupt, and negotiate permissions mid-turn. The bridge handles only a narrow approval subset.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009775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05250"/>
                <a:gridCol w="4819650"/>
              </a:tblGrid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Structured user questions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Unrecognized request methods are rejected as unsupported.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Codex cannot reliably present choices or form fields and continue.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MCP forms / URL / OAuth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elicitation handler.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Interactive server setup and authorization can stall.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Turn steering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turn/steer integration.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 user cannot add guidance to a turn already running.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Protocol cancellation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turn/interrupt integration.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Stopping the UI does not equal a native Codex interruption.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Session grants + rule amendments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Approvals collapse mostly to accept or decline.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“allow for this session,” reusable command rule, or distinct cancel decision.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017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1">
            <a:extLst xmlns:a="http://schemas.openxmlformats.org/drawingml/2006/main">
              <a:ext uri="{FF2B5EF4-FFF2-40B4-BE49-F238E27FC236}">
                <a16:creationId xmlns:a16="http://schemas.microsoft.com/office/drawing/2014/main" id="{44DC96CB-602C-4050-8212-21CE2FC8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88DD5DC-E427-448B-8EBC-4984259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Threads: continuation works; management does not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11434C31-74B0-4525-BF77-D64C24F9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612FF2D7-4E4B-48AF-9BE1-A7298AC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86687145-CBCB-416A-A644-DAE7428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s8-intro">
            <a:extLst xmlns:a="http://schemas.openxmlformats.org/drawingml/2006/main">
              <a:ext uri="{FF2B5EF4-FFF2-40B4-BE49-F238E27FC236}">
                <a16:creationId xmlns:a16="http://schemas.microsoft.com/office/drawing/2014/main" id="{B4A4B1BC-AD82-4BEB-B04F-D1C8D852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remembers a thread ID and resumes it. The wider native thread experience is not integrated.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905250"/>
                <a:gridCol w="4867275"/>
              </a:tblGrid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Start + resume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Implemented.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Ordinary multi-turn conversation works.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Fork / side conversation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thread/fork or ephemeral side-thread surface.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Users cannot branch safely without changing the main conversation.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List / read / search / name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thread manager.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OpenWand cannot expose full Codex history or metadata.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Pin / archive / delete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Not integrated.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Lifecycle organization is left to OpenWand's separate store.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Manual compaction + goals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thread/compact or Codex-native goal controls.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Users cannot deliberately manage context or inspect native goals.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Persistent Codex history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Explicitly set to history.persistence = none.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Codex history is intentionally not retained in the isolated profile.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322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2">
            <a:extLst xmlns:a="http://schemas.openxmlformats.org/drawingml/2006/main">
              <a:ext uri="{FF2B5EF4-FFF2-40B4-BE49-F238E27FC236}">
                <a16:creationId xmlns:a16="http://schemas.microsoft.com/office/drawing/2014/main" id="{D85682AA-8393-430B-B334-EE178E4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536504E-AFF5-4A6A-B8E5-1796A63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Execution: strong core, limited controls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9312C1E6-FFB4-420D-B4F9-0D46E7EA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009B4232-23E9-4097-B651-886F6DDB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E5B69C02-5737-4D4A-A0F8-A1CC7CF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9-intro">
            <a:extLst xmlns:a="http://schemas.openxmlformats.org/drawingml/2006/main">
              <a:ext uri="{FF2B5EF4-FFF2-40B4-BE49-F238E27FC236}">
                <a16:creationId xmlns:a16="http://schemas.microsoft.com/office/drawing/2014/main" id="{0D7F9CBD-6481-43AE-B540-80367184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The model can run commands and edit files, but OpenWand does not expose the full execution workspace around those actions.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952875"/>
                <a:gridCol w="4819650"/>
              </a:tblGrid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First-class code review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review/start target picker for working tree, branch, commit, or custom review.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Review is a prompt pattern, not a dedicated audited workflow.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 Codex terminal / PTY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integrated command/exec + write/resize/terminate interface.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Users cannot directly operate a Codex-managed interactive terminal.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Background terminals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list, inspect, terminate, or cleanup screen.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Long-running processes are harder to understand and control.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Worktree chats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Not integrated.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Parallel code work lacks native isolated worktree conversations.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Cloud / local environments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environment switcher or external-agent import.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Execution context is less portable and less discoverable.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Filesystem search / watch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fuzzy-search or watcher integration.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File discovery and change awareness rely on narrower paths.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8" name="eyebrow-front-12">
            <a:extLst xmlns:a="http://schemas.openxmlformats.org/drawingml/2006/main">
              <a:ext uri="{FF2B5EF4-FFF2-40B4-BE49-F238E27FC236}">
                <a16:creationId xmlns:a16="http://schemas.microsoft.com/office/drawing/2014/main" id="{218CDBE1-9A0F-4CC6-9DF0-B0AD6070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9" name="header-rule-front-12">
            <a:extLst xmlns:a="http://schemas.openxmlformats.org/drawingml/2006/main">
              <a:ext uri="{FF2B5EF4-FFF2-40B4-BE49-F238E27FC236}">
                <a16:creationId xmlns:a16="http://schemas.microsoft.com/office/drawing/2014/main" id="{ED4783D9-CCEC-4328-90AC-AAAFE21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section-front-12">
            <a:extLst xmlns:a="http://schemas.openxmlformats.org/drawingml/2006/main">
              <a:ext uri="{FF2B5EF4-FFF2-40B4-BE49-F238E27FC236}">
                <a16:creationId xmlns:a16="http://schemas.microsoft.com/office/drawing/2014/main" id="{970FE8F5-23C4-456A-81F4-24858255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</p:spTree>
    <p:extLst>
      <p:ext uri="{BB962C8B-B14F-4D97-AF65-F5344CB8AC3E}">
        <p14:creationId xmlns:p14="http://schemas.microsoft.com/office/powerpoint/2010/main" val="15869887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3">
            <a:extLst xmlns:a="http://schemas.openxmlformats.org/drawingml/2006/main">
              <a:ext uri="{FF2B5EF4-FFF2-40B4-BE49-F238E27FC236}">
                <a16:creationId xmlns:a16="http://schemas.microsoft.com/office/drawing/2014/main" id="{ECFA0996-E656-4115-A464-F27C1AE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2 · CAPABILITY GAPS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B4B6238-C488-4630-817A-D759C2E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Discovery: Codex can answer where OpenWand guesses</a:t>
            </a:r>
          </a:p>
        </p:txBody>
      </p:sp>
      <p:sp>
        <p:nvSpPr>
          <p:cNvPr id="3" name="header-rule-13">
            <a:extLst xmlns:a="http://schemas.openxmlformats.org/drawingml/2006/main">
              <a:ext uri="{FF2B5EF4-FFF2-40B4-BE49-F238E27FC236}">
                <a16:creationId xmlns:a16="http://schemas.microsoft.com/office/drawing/2014/main" id="{B9458776-25FF-4348-962F-E5A18962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3">
            <a:extLst xmlns:a="http://schemas.openxmlformats.org/drawingml/2006/main">
              <a:ext uri="{FF2B5EF4-FFF2-40B4-BE49-F238E27FC236}">
                <a16:creationId xmlns:a16="http://schemas.microsoft.com/office/drawing/2014/main" id="{70CF8EAD-D1B6-43C8-B31B-B42AE17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BBB4A46C-BB41-4BC1-B7AD-F0349260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s10-intro">
            <a:extLst xmlns:a="http://schemas.openxmlformats.org/drawingml/2006/main">
              <a:ext uri="{FF2B5EF4-FFF2-40B4-BE49-F238E27FC236}">
                <a16:creationId xmlns:a16="http://schemas.microsoft.com/office/drawing/2014/main" id="{F93C08FD-E267-44D0-A3D4-BC3AD94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Hardcoded choices and generic activity reporting age faster than protocol-driven discovery.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905250"/>
                <a:gridCol w="4867275"/>
              </a:tblGrid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Model discovery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Codex choices are maintained as a hardcoded list.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New, renamed, or retired models require an OpenWand release.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Model capabilities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discovery of reasoning bounds, modalities, defaults, or personality support.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UI can offer an invalid combination or hide a valid one.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Experimental features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feature/list or state management.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OpenWand cannot adapt to enabled native capabilities.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Status + limits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comprehensive native context, token, rate-limit, or /status equivalent.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Users cannot see why performance or behavior changes.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Hooks lifecycle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Generic activity only; hook started/completed events are not specifically surfaced.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Automation is difficult to verify or debug.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Configuration editor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Codex config read/write/batch-write surface.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Advanced setup requires manual work in the isolated profile.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305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kicker-14">
            <a:extLst xmlns:a="http://schemas.openxmlformats.org/drawingml/2006/main">
              <a:ext uri="{FF2B5EF4-FFF2-40B4-BE49-F238E27FC236}">
                <a16:creationId xmlns:a16="http://schemas.microsoft.com/office/drawing/2014/main" id="{F3357509-1256-423C-AEF8-C315F55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03 OF 05</a:t>
            </a:r>
          </a:p>
        </p:txBody>
      </p:sp>
      <p:sp>
        <p:nvSpPr>
          <p:cNvPr id="2" name="section-page-14">
            <a:extLst xmlns:a="http://schemas.openxmlformats.org/drawingml/2006/main">
              <a:ext uri="{FF2B5EF4-FFF2-40B4-BE49-F238E27FC236}">
                <a16:creationId xmlns:a16="http://schemas.microsoft.com/office/drawing/2014/main" id="{FC0EA702-04B5-44CD-AA75-B02561EE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section-rule-14">
            <a:extLst xmlns:a="http://schemas.openxmlformats.org/drawingml/2006/main">
              <a:ext uri="{FF2B5EF4-FFF2-40B4-BE49-F238E27FC236}">
                <a16:creationId xmlns:a16="http://schemas.microsoft.com/office/drawing/2014/main" id="{EB67FC8C-908D-4210-B93E-9EE0D3E5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-14">
            <a:extLst xmlns:a="http://schemas.openxmlformats.org/drawingml/2006/main">
              <a:ext uri="{FF2B5EF4-FFF2-40B4-BE49-F238E27FC236}">
                <a16:creationId xmlns:a16="http://schemas.microsoft.com/office/drawing/2014/main" id="{52BC9788-C69F-44D9-AEA4-D9F387A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nuances</a:t>
            </a:r>
          </a:p>
        </p:txBody>
      </p:sp>
      <p:sp>
        <p:nvSpPr>
          <p:cNvPr id="5" name="section-subtitle-14">
            <a:extLst xmlns:a="http://schemas.openxmlformats.org/drawingml/2006/main">
              <a:ext uri="{FF2B5EF4-FFF2-40B4-BE49-F238E27FC236}">
                <a16:creationId xmlns:a16="http://schemas.microsoft.com/office/drawing/2014/main" id="{E130F403-697D-4A2D-956A-904FECC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Some features may work underneath OpenWand without being visible, manageable, or guaranteed.</a:t>
            </a:r>
          </a:p>
        </p:txBody>
      </p:sp>
      <p:sp>
        <p:nvSpPr>
          <p:cNvPr id="6" name="section-item-num-14-0">
            <a:extLst xmlns:a="http://schemas.openxmlformats.org/drawingml/2006/main">
              <a:ext uri="{FF2B5EF4-FFF2-40B4-BE49-F238E27FC236}">
                <a16:creationId xmlns:a16="http://schemas.microsoft.com/office/drawing/2014/main" id="{54CA0DB7-E364-450C-8C38-EB85B1B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ection-item-14-0">
            <a:extLst xmlns:a="http://schemas.openxmlformats.org/drawingml/2006/main">
              <a:ext uri="{FF2B5EF4-FFF2-40B4-BE49-F238E27FC236}">
                <a16:creationId xmlns:a16="http://schemas.microsoft.com/office/drawing/2014/main" id="{8C656ACB-F2F5-4E5C-9C56-B4521110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Partial capability</a:t>
            </a:r>
          </a:p>
        </p:txBody>
      </p:sp>
      <p:sp>
        <p:nvSpPr>
          <p:cNvPr id="8" name="section-item-num-14-1">
            <a:extLst xmlns:a="http://schemas.openxmlformats.org/drawingml/2006/main">
              <a:ext uri="{FF2B5EF4-FFF2-40B4-BE49-F238E27FC236}">
                <a16:creationId xmlns:a16="http://schemas.microsoft.com/office/drawing/2014/main" id="{F98F5742-9209-4BA9-98F6-A8ED900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ection-item-14-1">
            <a:extLst xmlns:a="http://schemas.openxmlformats.org/drawingml/2006/main">
              <a:ext uri="{FF2B5EF4-FFF2-40B4-BE49-F238E27FC236}">
                <a16:creationId xmlns:a16="http://schemas.microsoft.com/office/drawing/2014/main" id="{62476890-67EB-4EA6-84FB-702C97C0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defaults</a:t>
            </a:r>
          </a:p>
        </p:txBody>
      </p:sp>
      <p:sp>
        <p:nvSpPr>
          <p:cNvPr id="10" name="section-item-num-14-2">
            <a:extLst xmlns:a="http://schemas.openxmlformats.org/drawingml/2006/main">
              <a:ext uri="{FF2B5EF4-FFF2-40B4-BE49-F238E27FC236}">
                <a16:creationId xmlns:a16="http://schemas.microsoft.com/office/drawing/2014/main" id="{EEFAF4E7-2B01-4337-89B8-F6235640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ection-item-14-2">
            <a:extLst xmlns:a="http://schemas.openxmlformats.org/drawingml/2006/main">
              <a:ext uri="{FF2B5EF4-FFF2-40B4-BE49-F238E27FC236}">
                <a16:creationId xmlns:a16="http://schemas.microsoft.com/office/drawing/2014/main" id="{EFC08829-B81C-4493-843C-47AF71D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Careful product language</a:t>
            </a:r>
          </a:p>
        </p:txBody>
      </p:sp>
      <p:sp>
        <p:nvSpPr>
          <p:cNvPr id="12" name="section-accent-14">
            <a:extLst xmlns:a="http://schemas.openxmlformats.org/drawingml/2006/main">
              <a:ext uri="{FF2B5EF4-FFF2-40B4-BE49-F238E27FC236}">
                <a16:creationId xmlns:a16="http://schemas.microsoft.com/office/drawing/2014/main" id="{632E3767-0A38-4BC7-82C7-76E3F003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1675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9065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15">
            <a:extLst xmlns:a="http://schemas.openxmlformats.org/drawingml/2006/main">
              <a:ext uri="{FF2B5EF4-FFF2-40B4-BE49-F238E27FC236}">
                <a16:creationId xmlns:a16="http://schemas.microsoft.com/office/drawing/2014/main" id="{E3B55E2B-47FC-4AFA-AF74-92DD2E3E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3 · IMPORTANT NUANCES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DE4C3B5D-C18B-4A41-B3D7-632C1D4D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Five capabilities need careful wording</a:t>
            </a:r>
          </a:p>
        </p:txBody>
      </p:sp>
      <p:sp>
        <p:nvSpPr>
          <p:cNvPr id="3" name="header-rule-15">
            <a:extLst xmlns:a="http://schemas.openxmlformats.org/drawingml/2006/main">
              <a:ext uri="{FF2B5EF4-FFF2-40B4-BE49-F238E27FC236}">
                <a16:creationId xmlns:a16="http://schemas.microsoft.com/office/drawing/2014/main" id="{B10FFC7E-7E40-4952-AAC7-1917A54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5">
            <a:extLst xmlns:a="http://schemas.openxmlformats.org/drawingml/2006/main">
              <a:ext uri="{FF2B5EF4-FFF2-40B4-BE49-F238E27FC236}">
                <a16:creationId xmlns:a16="http://schemas.microsoft.com/office/drawing/2014/main" id="{1168DF0D-9BF4-4A2D-AD7F-567BAD46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ADDD564E-E41D-427B-BDB7-CE2377BC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s11-intro">
            <a:extLst xmlns:a="http://schemas.openxmlformats.org/drawingml/2006/main">
              <a:ext uri="{FF2B5EF4-FFF2-40B4-BE49-F238E27FC236}">
                <a16:creationId xmlns:a16="http://schemas.microsoft.com/office/drawing/2014/main" id="{F16CB8DC-F31D-452A-8FC2-660ED7B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These are not clean “yes” or “no” answers. They can exist underneath OpenWand without being properly surfaced or guaranteed.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009775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714750"/>
                <a:gridCol w="5391150"/>
              </a:tblGrid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Codex surface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today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that means</a:t>
                      </a:r>
                    </a:p>
                  </a:txBody>
                  <a:tcPr marL="95250" marR="95250" marT="76200" marB="76200" anchor="ctr">
                    <a:solidFill>
                      <a:srgbClr val="11111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Skills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Possible through documented folders or plain-text $skill references.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picker, skills/list, structured injection, dependency reporting, enable/disable, or refresh events.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MCP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Possible when configured in OpenWand's isolated Codex home.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Normal personal config is not inherited; forms, auth elicitation, and status UI are missing.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Subagents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Likely usable as an internal Codex capability.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/agent switcher, per-agent status, stop control, or parity test.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Hooks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Repository/config discovery may still occur.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Personal hooks may not be inherited; lifecycle events are not explicitly displayed.</a:t>
                      </a:r>
                    </a:p>
                  </a:txBody>
                  <a:tcPr marL="95250" marR="95250" marT="66675" marB="66675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Internet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Varies by sandbox and permission mode; built-in search is separate.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Normal workspace sets networkAccess false, and web-search parity is not explicitly controlled or tested.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59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6">
            <a:extLst xmlns:a="http://schemas.openxmlformats.org/drawingml/2006/main">
              <a:ext uri="{FF2B5EF4-FFF2-40B4-BE49-F238E27FC236}">
                <a16:creationId xmlns:a16="http://schemas.microsoft.com/office/drawing/2014/main" id="{0E7CC483-62C2-4D8B-A181-02742ED0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3 · IMPORTANT NUANCES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C395F6D2-B1B3-4211-9CBD-A58CF7B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defaults create capability differences</a:t>
            </a:r>
          </a:p>
        </p:txBody>
      </p:sp>
      <p:sp>
        <p:nvSpPr>
          <p:cNvPr id="3" name="header-rule-16">
            <a:extLst xmlns:a="http://schemas.openxmlformats.org/drawingml/2006/main">
              <a:ext uri="{FF2B5EF4-FFF2-40B4-BE49-F238E27FC236}">
                <a16:creationId xmlns:a16="http://schemas.microsoft.com/office/drawing/2014/main" id="{AC518CD6-4F10-4FC7-BA95-E742A648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6">
            <a:extLst xmlns:a="http://schemas.openxmlformats.org/drawingml/2006/main">
              <a:ext uri="{FF2B5EF4-FFF2-40B4-BE49-F238E27FC236}">
                <a16:creationId xmlns:a16="http://schemas.microsoft.com/office/drawing/2014/main" id="{12C684D7-94A2-42EC-9E5C-FB695BCA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CF275A47-E110-4AC3-A63C-FE2E7FB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s12-lead">
            <a:extLst xmlns:a="http://schemas.openxmlformats.org/drawingml/2006/main">
              <a:ext uri="{FF2B5EF4-FFF2-40B4-BE49-F238E27FC236}">
                <a16:creationId xmlns:a16="http://schemas.microsoft.com/office/drawing/2014/main" id="{8B2E3F7D-6DC4-4236-9554-497F98D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OpenWand defaults are deliberate guardrails—not model limitations.</a:t>
            </a:r>
          </a:p>
        </p:txBody>
      </p:sp>
      <p:sp>
        <p:nvSpPr>
          <p:cNvPr id="7" name="s12-left-bg">
            <a:extLst xmlns:a="http://schemas.openxmlformats.org/drawingml/2006/main">
              <a:ext uri="{FF2B5EF4-FFF2-40B4-BE49-F238E27FC236}">
                <a16:creationId xmlns:a16="http://schemas.microsoft.com/office/drawing/2014/main" id="{CD8E3684-9437-4E62-93E5-18172E26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5334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2-right-bg">
            <a:extLst xmlns:a="http://schemas.openxmlformats.org/drawingml/2006/main">
              <a:ext uri="{FF2B5EF4-FFF2-40B4-BE49-F238E27FC236}">
                <a16:creationId xmlns:a16="http://schemas.microsoft.com/office/drawing/2014/main" id="{8730EC60-D7C2-4D7E-8CD9-0A9DEED1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5334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2-left-kicker">
            <a:extLst xmlns:a="http://schemas.openxmlformats.org/drawingml/2006/main">
              <a:ext uri="{FF2B5EF4-FFF2-40B4-BE49-F238E27FC236}">
                <a16:creationId xmlns:a16="http://schemas.microsoft.com/office/drawing/2014/main" id="{45378BE4-F001-414F-8C75-0B9D1B49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ISOLATED CODEX PROFILE</a:t>
            </a:r>
          </a:p>
        </p:txBody>
      </p:sp>
      <p:sp>
        <p:nvSpPr>
          <p:cNvPr id="10" name="s12-left-title">
            <a:extLst xmlns:a="http://schemas.openxmlformats.org/drawingml/2006/main">
              <a:ext uri="{FF2B5EF4-FFF2-40B4-BE49-F238E27FC236}">
                <a16:creationId xmlns:a16="http://schemas.microsoft.com/office/drawing/2014/main" id="{2FD2E5C2-E754-48A5-BBB9-58E4560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CODEX_HOME</a:t>
            </a:r>
          </a:p>
        </p:txBody>
      </p:sp>
      <p:sp>
        <p:nvSpPr>
          <p:cNvPr id="11" name="s12-left-body">
            <a:extLst xmlns:a="http://schemas.openxmlformats.org/drawingml/2006/main">
              <a:ext uri="{FF2B5EF4-FFF2-40B4-BE49-F238E27FC236}">
                <a16:creationId xmlns:a16="http://schemas.microsoft.com/office/drawing/2014/main" id="{7D4EE2F4-7D9F-47F6-89F3-D25609D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creates a private Codex home and writes history.persistence = “none.” Your usual ~/.codex MCP servers, hooks, and configuration are therefore not automatically inherited.</a:t>
            </a:r>
          </a:p>
        </p:txBody>
      </p:sp>
      <p:sp>
        <p:nvSpPr>
          <p:cNvPr id="12" name="s12-right-kicker">
            <a:extLst xmlns:a="http://schemas.openxmlformats.org/drawingml/2006/main">
              <a:ext uri="{FF2B5EF4-FFF2-40B4-BE49-F238E27FC236}">
                <a16:creationId xmlns:a16="http://schemas.microsoft.com/office/drawing/2014/main" id="{926EA978-830E-4D94-86E2-5F3E9AC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81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NORMAL WORKSPACE MODE</a:t>
            </a:r>
          </a:p>
        </p:txBody>
      </p:sp>
      <p:sp>
        <p:nvSpPr>
          <p:cNvPr id="13" name="s12-right-title">
            <a:extLst xmlns:a="http://schemas.openxmlformats.org/drawingml/2006/main">
              <a:ext uri="{FF2B5EF4-FFF2-40B4-BE49-F238E27FC236}">
                <a16:creationId xmlns:a16="http://schemas.microsoft.com/office/drawing/2014/main" id="{65F040FF-1AFD-4640-BEFD-BF82193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Shell network is off</a:t>
            </a:r>
          </a:p>
        </p:txBody>
      </p:sp>
      <p:sp>
        <p:nvSpPr>
          <p:cNvPr id="14" name="s12-right-body">
            <a:extLst xmlns:a="http://schemas.openxmlformats.org/drawingml/2006/main">
              <a:ext uri="{FF2B5EF4-FFF2-40B4-BE49-F238E27FC236}">
                <a16:creationId xmlns:a16="http://schemas.microsoft.com/office/drawing/2014/main" id="{324B5A1A-8066-40AE-BBA9-C0A26A9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OpenWand sends networkAccess: false for normal workspace mode. Ask mode can request permission; full-access mode removes that workspace sandbox restriction. Built-in web search is a separate capability and still needs parity testing.</a:t>
            </a:r>
          </a:p>
        </p:txBody>
      </p:sp>
      <p:sp>
        <p:nvSpPr>
          <p:cNvPr id="15" name="s12-bottom">
            <a:extLst xmlns:a="http://schemas.openxmlformats.org/drawingml/2006/main">
              <a:ext uri="{FF2B5EF4-FFF2-40B4-BE49-F238E27FC236}">
                <a16:creationId xmlns:a16="http://schemas.microsoft.com/office/drawing/2014/main" id="{22E6504F-A172-4705-94B5-B0D96B15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272B"/>
                </a:solidFill>
                <a:latin typeface="Arial"/>
                <a:ea typeface="Arial"/>
                <a:cs typeface="Arial"/>
              </a:rPr>
              <a:t>Design implication: show these states clearly so a restricted environment is not mistaken for a weaker model.</a:t>
            </a:r>
          </a:p>
        </p:txBody>
      </p:sp>
      <p:sp>
        <p:nvSpPr>
          <p:cNvPr id="16" name="eyebrow-front-16">
            <a:extLst xmlns:a="http://schemas.openxmlformats.org/drawingml/2006/main">
              <a:ext uri="{FF2B5EF4-FFF2-40B4-BE49-F238E27FC236}">
                <a16:creationId xmlns:a16="http://schemas.microsoft.com/office/drawing/2014/main" id="{B5110803-C8DA-4F14-9919-CD7A018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3 · IMPORTANT NUANCES</a:t>
            </a:r>
          </a:p>
        </p:txBody>
      </p:sp>
      <p:sp>
        <p:nvSpPr>
          <p:cNvPr id="17" name="header-rule-front-16">
            <a:extLst xmlns:a="http://schemas.openxmlformats.org/drawingml/2006/main">
              <a:ext uri="{FF2B5EF4-FFF2-40B4-BE49-F238E27FC236}">
                <a16:creationId xmlns:a16="http://schemas.microsoft.com/office/drawing/2014/main" id="{2BE48549-5B69-4D64-908B-9D49EE7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section-front-16">
            <a:extLst xmlns:a="http://schemas.openxmlformats.org/drawingml/2006/main">
              <a:ext uri="{FF2B5EF4-FFF2-40B4-BE49-F238E27FC236}">
                <a16:creationId xmlns:a16="http://schemas.microsoft.com/office/drawing/2014/main" id="{23B1B6F5-2248-4D70-AD56-25F55BE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</p:spTree>
    <p:extLst>
      <p:ext uri="{BB962C8B-B14F-4D97-AF65-F5344CB8AC3E}">
        <p14:creationId xmlns:p14="http://schemas.microsoft.com/office/powerpoint/2010/main" val="20707373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kicker-17">
            <a:extLst xmlns:a="http://schemas.openxmlformats.org/drawingml/2006/main">
              <a:ext uri="{FF2B5EF4-FFF2-40B4-BE49-F238E27FC236}">
                <a16:creationId xmlns:a16="http://schemas.microsoft.com/office/drawing/2014/main" id="{605F8E66-331C-49FD-BC07-1C297149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04 OF 05</a:t>
            </a:r>
          </a:p>
        </p:txBody>
      </p:sp>
      <p:sp>
        <p:nvSpPr>
          <p:cNvPr id="2" name="section-page-17">
            <a:extLst xmlns:a="http://schemas.openxmlformats.org/drawingml/2006/main">
              <a:ext uri="{FF2B5EF4-FFF2-40B4-BE49-F238E27FC236}">
                <a16:creationId xmlns:a16="http://schemas.microsoft.com/office/drawing/2014/main" id="{43032EE9-57E1-4322-B6FB-8A504A5D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section-rule-17">
            <a:extLst xmlns:a="http://schemas.openxmlformats.org/drawingml/2006/main">
              <a:ext uri="{FF2B5EF4-FFF2-40B4-BE49-F238E27FC236}">
                <a16:creationId xmlns:a16="http://schemas.microsoft.com/office/drawing/2014/main" id="{75E4DA68-012F-4710-837B-874C1F9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-17">
            <a:extLst xmlns:a="http://schemas.openxmlformats.org/drawingml/2006/main">
              <a:ext uri="{FF2B5EF4-FFF2-40B4-BE49-F238E27FC236}">
                <a16:creationId xmlns:a16="http://schemas.microsoft.com/office/drawing/2014/main" id="{5450576F-15E1-452A-96B1-768E316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register</a:t>
            </a:r>
          </a:p>
        </p:txBody>
      </p:sp>
      <p:sp>
        <p:nvSpPr>
          <p:cNvPr id="5" name="section-subtitle-17">
            <a:extLst xmlns:a="http://schemas.openxmlformats.org/drawingml/2006/main">
              <a:ext uri="{FF2B5EF4-FFF2-40B4-BE49-F238E27FC236}">
                <a16:creationId xmlns:a16="http://schemas.microsoft.com/office/drawing/2014/main" id="{1BA47472-AFC0-4D4D-8C53-669166AF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Turn the user-facing comparison into a consolidated engineering inventory.</a:t>
            </a:r>
          </a:p>
        </p:txBody>
      </p:sp>
      <p:sp>
        <p:nvSpPr>
          <p:cNvPr id="6" name="section-item-num-17-0">
            <a:extLst xmlns:a="http://schemas.openxmlformats.org/drawingml/2006/main">
              <a:ext uri="{FF2B5EF4-FFF2-40B4-BE49-F238E27FC236}">
                <a16:creationId xmlns:a16="http://schemas.microsoft.com/office/drawing/2014/main" id="{87CF0FF6-4E39-43D5-9466-DE936294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ection-item-17-0">
            <a:extLst xmlns:a="http://schemas.openxmlformats.org/drawingml/2006/main">
              <a:ext uri="{FF2B5EF4-FFF2-40B4-BE49-F238E27FC236}">
                <a16:creationId xmlns:a16="http://schemas.microsoft.com/office/drawing/2014/main" id="{2BEAFE5D-A4C3-4C67-8E45-44BA272D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8" name="section-item-num-17-1">
            <a:extLst xmlns:a="http://schemas.openxmlformats.org/drawingml/2006/main">
              <a:ext uri="{FF2B5EF4-FFF2-40B4-BE49-F238E27FC236}">
                <a16:creationId xmlns:a16="http://schemas.microsoft.com/office/drawing/2014/main" id="{D5351878-8927-4F23-8237-DB48455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ection-item-17-1">
            <a:extLst xmlns:a="http://schemas.openxmlformats.org/drawingml/2006/main">
              <a:ext uri="{FF2B5EF4-FFF2-40B4-BE49-F238E27FC236}">
                <a16:creationId xmlns:a16="http://schemas.microsoft.com/office/drawing/2014/main" id="{06DDF30C-9879-4467-A674-4E8BF777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10" name="section-item-num-17-2">
            <a:extLst xmlns:a="http://schemas.openxmlformats.org/drawingml/2006/main">
              <a:ext uri="{FF2B5EF4-FFF2-40B4-BE49-F238E27FC236}">
                <a16:creationId xmlns:a16="http://schemas.microsoft.com/office/drawing/2014/main" id="{0AFA14F7-93A6-42BF-B532-86E72C44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ection-item-17-2">
            <a:extLst xmlns:a="http://schemas.openxmlformats.org/drawingml/2006/main">
              <a:ext uri="{FF2B5EF4-FFF2-40B4-BE49-F238E27FC236}">
                <a16:creationId xmlns:a16="http://schemas.microsoft.com/office/drawing/2014/main" id="{F23DC61E-DA46-46D2-9E4F-AA4F9A93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Lifecycle + administration</a:t>
            </a:r>
          </a:p>
        </p:txBody>
      </p:sp>
      <p:sp>
        <p:nvSpPr>
          <p:cNvPr id="12" name="section-accent-17">
            <a:extLst xmlns:a="http://schemas.openxmlformats.org/drawingml/2006/main">
              <a:ext uri="{FF2B5EF4-FFF2-40B4-BE49-F238E27FC236}">
                <a16:creationId xmlns:a16="http://schemas.microsoft.com/office/drawing/2014/main" id="{9D668B2C-5009-4FF3-B364-26658C91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1675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080969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18">
            <a:extLst xmlns:a="http://schemas.openxmlformats.org/drawingml/2006/main">
              <a:ext uri="{FF2B5EF4-FFF2-40B4-BE49-F238E27FC236}">
                <a16:creationId xmlns:a16="http://schemas.microsoft.com/office/drawing/2014/main" id="{14F4DF22-3902-489A-AEFC-25F6FEB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4 · IMPLEMENTATION REGISTER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B1513C32-C40A-427A-947D-1802955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 gap register — access and interaction</a:t>
            </a:r>
          </a:p>
        </p:txBody>
      </p:sp>
      <p:sp>
        <p:nvSpPr>
          <p:cNvPr id="3" name="header-rule-18">
            <a:extLst xmlns:a="http://schemas.openxmlformats.org/drawingml/2006/main">
              <a:ext uri="{FF2B5EF4-FFF2-40B4-BE49-F238E27FC236}">
                <a16:creationId xmlns:a16="http://schemas.microsoft.com/office/drawing/2014/main" id="{88B20CB0-40B4-4FD7-81EC-A93E38A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8">
            <a:extLst xmlns:a="http://schemas.openxmlformats.org/drawingml/2006/main">
              <a:ext uri="{FF2B5EF4-FFF2-40B4-BE49-F238E27FC236}">
                <a16:creationId xmlns:a16="http://schemas.microsoft.com/office/drawing/2014/main" id="{519AFCA1-8F4A-43F0-90BA-E3A304A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470F1001-D26A-49E0-A388-01B774B9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047750"/>
                <a:gridCol w="4152900"/>
                <a:gridCol w="3810000"/>
              </a:tblGrid>
              <a:tr h="34070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reality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Apps/connectors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discovery, structured mention, or invocation UI.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Connected services are not dependable.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Plugin management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marketplace, install, enable, disable, or update.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Extensions are not productized.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Client-provided tools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OpenWand tools are not registered dynamically.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OpenWand actions stay outside Codex.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Structured questions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tool/requestUserInput is not handled.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agent cannot collect choices safely.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MCP elicitation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form, URL, or OAuth request handling.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Interactive setup can dead-end.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Turn steering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turn/steer call.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mid-run course correction.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Turn interruption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turn/interrupt call.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Cancellation is not protocol-level.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Review mode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review/start or target selection.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Review lacks a first-class workflow.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Skill integration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File discovery may work; no list/picker/state/injection.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Availability is opaque.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MCP integration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Isolated-profile configuration may work.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inherited config or status UI.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Subagents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Internal delegation may work; no /agent experience.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Hard to inspect or control.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Hooks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May be discovered; lifecycle is not surfaced.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Automation is hard to verify.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register-footer-mask-18">
            <a:extLst xmlns:a="http://schemas.openxmlformats.org/drawingml/2006/main">
              <a:ext uri="{FF2B5EF4-FFF2-40B4-BE49-F238E27FC236}">
                <a16:creationId xmlns:a16="http://schemas.microsoft.com/office/drawing/2014/main" id="{19CF3205-5F83-417A-9C05-C962388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gister-footer-label-18">
            <a:extLst xmlns:a="http://schemas.openxmlformats.org/drawingml/2006/main">
              <a:ext uri="{FF2B5EF4-FFF2-40B4-BE49-F238E27FC236}">
                <a16:creationId xmlns:a16="http://schemas.microsoft.com/office/drawing/2014/main" id="{3E3FD770-B51F-48A5-83BF-8F96425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9" name="register-footer-page-18">
            <a:extLst xmlns:a="http://schemas.openxmlformats.org/drawingml/2006/main">
              <a:ext uri="{FF2B5EF4-FFF2-40B4-BE49-F238E27FC236}">
                <a16:creationId xmlns:a16="http://schemas.microsoft.com/office/drawing/2014/main" id="{C335F57B-671F-446B-8868-8B2A6C6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40646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19">
            <a:extLst xmlns:a="http://schemas.openxmlformats.org/drawingml/2006/main">
              <a:ext uri="{FF2B5EF4-FFF2-40B4-BE49-F238E27FC236}">
                <a16:creationId xmlns:a16="http://schemas.microsoft.com/office/drawing/2014/main" id="{8744D754-619D-4F22-AD1F-7475283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4 · IMPLEMENTATION REGISTER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6870B192-9C61-4169-B235-F758701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Gap register — lifecycle and administration</a:t>
            </a:r>
          </a:p>
        </p:txBody>
      </p:sp>
      <p:sp>
        <p:nvSpPr>
          <p:cNvPr id="3" name="header-rule-19">
            <a:extLst xmlns:a="http://schemas.openxmlformats.org/drawingml/2006/main">
              <a:ext uri="{FF2B5EF4-FFF2-40B4-BE49-F238E27FC236}">
                <a16:creationId xmlns:a16="http://schemas.microsoft.com/office/drawing/2014/main" id="{EECD7CBF-A7BD-4DCB-97EE-A5936589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9">
            <a:extLst xmlns:a="http://schemas.openxmlformats.org/drawingml/2006/main">
              <a:ext uri="{FF2B5EF4-FFF2-40B4-BE49-F238E27FC236}">
                <a16:creationId xmlns:a16="http://schemas.microsoft.com/office/drawing/2014/main" id="{FD1ABAC4-D774-4F23-8878-52DD7B53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9D73CCDE-8EF5-4177-8770-3DE93A1E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3919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047750"/>
                <a:gridCol w="4152900"/>
                <a:gridCol w="3810000"/>
              </a:tblGrid>
              <a:tr h="34070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OpenWand reality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76200" marR="76200" marT="57150" marB="57150" anchor="ctr">
                    <a:solidFill>
                      <a:srgbClr val="111111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Thread fork / side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fork or ephemeral side conversation.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safe branching.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Thread management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list/read/search/name/pin/archive/delete UI.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History metadata is fragmented.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Manual compaction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thread/compact control.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Users cannot deliberately reclaim context.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goals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create/inspect/clear goal controls.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Long-running intent is not visible.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Persistent history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Restricted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history.persistence is explicitly none.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Native history is intentionally disabled.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Background terminals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list/inspect/terminate/clean controls.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Processes are difficult to manage.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Interactive PTY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command/exec write/resize/terminate surface.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user-operated Codex terminal.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Structured inputs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structured skills/apps, remote image URL, or output schema.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Inputs and outputs are narrower.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Personality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Not passed to turn/start.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Supported model behavior is hidden.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Dynamic discovery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model/capability/feature discovery.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UI drifts from Codex releases.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Status / hooks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full context/rate status or named hook lifecycle.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Debugging is weaker.</a:t>
                      </a:r>
                    </a:p>
                  </a:txBody>
                  <a:tcPr marL="66675" marR="66675" marT="38100" marB="38100" anchor="ctr">
                    <a:solidFill>
                      <a:srgbClr val="FFFFFF"/>
                    </a:solidFill>
                  </a:tcPr>
                </a:tc>
              </a:tr>
              <a:tr h="34070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Worktrees / env / FS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24272B"/>
                          </a:solidFill>
                          <a:latin typeface="Arial"/>
                          <a:ea typeface="Arial"/>
                          <a:cs typeface="Arial"/>
                        </a:rPr>
                        <a:t>Missing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worktree, environment switch, config editor, search/watch APIs.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Advanced workflows are unavailable.</a:t>
                      </a:r>
                    </a:p>
                  </a:txBody>
                  <a:tcPr marL="66675" marR="66675" marT="38100" marB="38100" anchor="ctr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register-footer-mask-19">
            <a:extLst xmlns:a="http://schemas.openxmlformats.org/drawingml/2006/main">
              <a:ext uri="{FF2B5EF4-FFF2-40B4-BE49-F238E27FC236}">
                <a16:creationId xmlns:a16="http://schemas.microsoft.com/office/drawing/2014/main" id="{1C0D3A2D-FFA5-4B84-A7E1-009A8A3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gister-footer-label-19">
            <a:extLst xmlns:a="http://schemas.openxmlformats.org/drawingml/2006/main">
              <a:ext uri="{FF2B5EF4-FFF2-40B4-BE49-F238E27FC236}">
                <a16:creationId xmlns:a16="http://schemas.microsoft.com/office/drawing/2014/main" id="{610B9F06-75FF-4D91-8807-79C54D99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9" name="register-footer-page-19">
            <a:extLst xmlns:a="http://schemas.openxmlformats.org/drawingml/2006/main">
              <a:ext uri="{FF2B5EF4-FFF2-40B4-BE49-F238E27FC236}">
                <a16:creationId xmlns:a16="http://schemas.microsoft.com/office/drawing/2014/main" id="{EF2BE36E-DA52-4222-90D4-D430C576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417258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kicker-20">
            <a:extLst xmlns:a="http://schemas.openxmlformats.org/drawingml/2006/main">
              <a:ext uri="{FF2B5EF4-FFF2-40B4-BE49-F238E27FC236}">
                <a16:creationId xmlns:a16="http://schemas.microsoft.com/office/drawing/2014/main" id="{C2D0B076-4728-4A52-8F7E-B93532E6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05 OF 05</a:t>
            </a:r>
          </a:p>
        </p:txBody>
      </p:sp>
      <p:sp>
        <p:nvSpPr>
          <p:cNvPr id="2" name="section-page-20">
            <a:extLst xmlns:a="http://schemas.openxmlformats.org/drawingml/2006/main">
              <a:ext uri="{FF2B5EF4-FFF2-40B4-BE49-F238E27FC236}">
                <a16:creationId xmlns:a16="http://schemas.microsoft.com/office/drawing/2014/main" id="{C5BC153D-A16B-4E7B-B967-F5BA5F6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section-rule-20">
            <a:extLst xmlns:a="http://schemas.openxmlformats.org/drawingml/2006/main">
              <a:ext uri="{FF2B5EF4-FFF2-40B4-BE49-F238E27FC236}">
                <a16:creationId xmlns:a16="http://schemas.microsoft.com/office/drawing/2014/main" id="{5789A27D-64CA-4A67-9C20-46F5AD15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-20">
            <a:extLst xmlns:a="http://schemas.openxmlformats.org/drawingml/2006/main">
              <a:ext uri="{FF2B5EF4-FFF2-40B4-BE49-F238E27FC236}">
                <a16:creationId xmlns:a16="http://schemas.microsoft.com/office/drawing/2014/main" id="{D909706A-F047-4631-A709-3800767E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Parity plan</a:t>
            </a:r>
          </a:p>
        </p:txBody>
      </p:sp>
      <p:sp>
        <p:nvSpPr>
          <p:cNvPr id="5" name="section-subtitle-20">
            <a:extLst xmlns:a="http://schemas.openxmlformats.org/drawingml/2006/main">
              <a:ext uri="{FF2B5EF4-FFF2-40B4-BE49-F238E27FC236}">
                <a16:creationId xmlns:a16="http://schemas.microsoft.com/office/drawing/2014/main" id="{ACC4326A-4CE5-4B26-AA11-509ABB29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Prioritize the bridge work, then prove capability with end-to-end behavior.</a:t>
            </a:r>
          </a:p>
        </p:txBody>
      </p:sp>
      <p:sp>
        <p:nvSpPr>
          <p:cNvPr id="6" name="section-item-num-20-0">
            <a:extLst xmlns:a="http://schemas.openxmlformats.org/drawingml/2006/main">
              <a:ext uri="{FF2B5EF4-FFF2-40B4-BE49-F238E27FC236}">
                <a16:creationId xmlns:a16="http://schemas.microsoft.com/office/drawing/2014/main" id="{FAF4E56B-BDF2-4834-9CC6-73D14019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ection-item-20-0">
            <a:extLst xmlns:a="http://schemas.openxmlformats.org/drawingml/2006/main">
              <a:ext uri="{FF2B5EF4-FFF2-40B4-BE49-F238E27FC236}">
                <a16:creationId xmlns:a16="http://schemas.microsoft.com/office/drawing/2014/main" id="{6CE8118F-E2FD-4660-B4D5-86EEEA4B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blocking</a:t>
            </a:r>
          </a:p>
        </p:txBody>
      </p:sp>
      <p:sp>
        <p:nvSpPr>
          <p:cNvPr id="8" name="section-item-num-20-1">
            <a:extLst xmlns:a="http://schemas.openxmlformats.org/drawingml/2006/main">
              <a:ext uri="{FF2B5EF4-FFF2-40B4-BE49-F238E27FC236}">
                <a16:creationId xmlns:a16="http://schemas.microsoft.com/office/drawing/2014/main" id="{2906B1E6-B2FD-4AB9-B894-64A36DA8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ection-item-20-1">
            <a:extLst xmlns:a="http://schemas.openxmlformats.org/drawingml/2006/main">
              <a:ext uri="{FF2B5EF4-FFF2-40B4-BE49-F238E27FC236}">
                <a16:creationId xmlns:a16="http://schemas.microsoft.com/office/drawing/2014/main" id="{9018561C-155E-407D-BC0B-52004AB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 capability visible</a:t>
            </a:r>
          </a:p>
        </p:txBody>
      </p:sp>
      <p:sp>
        <p:nvSpPr>
          <p:cNvPr id="10" name="section-item-num-20-2">
            <a:extLst xmlns:a="http://schemas.openxmlformats.org/drawingml/2006/main">
              <a:ext uri="{FF2B5EF4-FFF2-40B4-BE49-F238E27FC236}">
                <a16:creationId xmlns:a16="http://schemas.microsoft.com/office/drawing/2014/main" id="{376199F9-B61F-4D3C-A4BF-A34E9A5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ection-item-20-2">
            <a:extLst xmlns:a="http://schemas.openxmlformats.org/drawingml/2006/main">
              <a:ext uri="{FF2B5EF4-FFF2-40B4-BE49-F238E27FC236}">
                <a16:creationId xmlns:a16="http://schemas.microsoft.com/office/drawing/2014/main" id="{953E8C9D-AF43-4597-97B8-988A41B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 the lifecycle</a:t>
            </a:r>
          </a:p>
        </p:txBody>
      </p:sp>
      <p:sp>
        <p:nvSpPr>
          <p:cNvPr id="12" name="section-accent-20">
            <a:extLst xmlns:a="http://schemas.openxmlformats.org/drawingml/2006/main">
              <a:ext uri="{FF2B5EF4-FFF2-40B4-BE49-F238E27FC236}">
                <a16:creationId xmlns:a16="http://schemas.microsoft.com/office/drawing/2014/main" id="{1A6EDD34-6A76-426B-9CB6-F222E9C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1675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66575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1">
            <a:extLst xmlns:a="http://schemas.openxmlformats.org/drawingml/2006/main">
              <a:ext uri="{FF2B5EF4-FFF2-40B4-BE49-F238E27FC236}">
                <a16:creationId xmlns:a16="http://schemas.microsoft.com/office/drawing/2014/main" id="{BD037194-1EEA-4610-9C76-E9CB88F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5 · PARITY PLAN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1B164676-0EFF-4E3C-A08B-00CC1187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three-stage path to credible parity</a:t>
            </a:r>
          </a:p>
        </p:txBody>
      </p:sp>
      <p:sp>
        <p:nvSpPr>
          <p:cNvPr id="3" name="header-rule-21">
            <a:extLst xmlns:a="http://schemas.openxmlformats.org/drawingml/2006/main">
              <a:ext uri="{FF2B5EF4-FFF2-40B4-BE49-F238E27FC236}">
                <a16:creationId xmlns:a16="http://schemas.microsoft.com/office/drawing/2014/main" id="{23909C4F-27AF-4F13-9776-509FC576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21">
            <a:extLst xmlns:a="http://schemas.openxmlformats.org/drawingml/2006/main">
              <a:ext uri="{FF2B5EF4-FFF2-40B4-BE49-F238E27FC236}">
                <a16:creationId xmlns:a16="http://schemas.microsoft.com/office/drawing/2014/main" id="{D9D2E99F-5BAA-42D6-8EA1-3E0C34FE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B83E3D61-D684-47A5-9B58-E142CE2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s15-line">
            <a:extLst xmlns:a="http://schemas.openxmlformats.org/drawingml/2006/main">
              <a:ext uri="{FF2B5EF4-FFF2-40B4-BE49-F238E27FC236}">
                <a16:creationId xmlns:a16="http://schemas.microsoft.com/office/drawing/2014/main" id="{3261EF0F-6C4E-4ADD-BEC3-EBCA69E0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5-dot-0">
            <a:extLst xmlns:a="http://schemas.openxmlformats.org/drawingml/2006/main">
              <a:ext uri="{FF2B5EF4-FFF2-40B4-BE49-F238E27FC236}">
                <a16:creationId xmlns:a16="http://schemas.microsoft.com/office/drawing/2014/main" id="{B7197945-1AA7-4E0A-8DBF-89F88F0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5-phase-0">
            <a:extLst xmlns:a="http://schemas.openxmlformats.org/drawingml/2006/main">
              <a:ext uri="{FF2B5EF4-FFF2-40B4-BE49-F238E27FC236}">
                <a16:creationId xmlns:a16="http://schemas.microsoft.com/office/drawing/2014/main" id="{7BD8C0AD-1164-4621-AEDA-F5D42723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9" name="s15-title-0">
            <a:extLst xmlns:a="http://schemas.openxmlformats.org/drawingml/2006/main">
              <a:ext uri="{FF2B5EF4-FFF2-40B4-BE49-F238E27FC236}">
                <a16:creationId xmlns:a16="http://schemas.microsoft.com/office/drawing/2014/main" id="{B20943E7-3C80-4ED5-9AC6-97FB749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8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blocking native flows</a:t>
            </a:r>
          </a:p>
        </p:txBody>
      </p:sp>
      <p:sp>
        <p:nvSpPr>
          <p:cNvPr id="10" name="s15-body-0">
            <a:extLst xmlns:a="http://schemas.openxmlformats.org/drawingml/2006/main">
              <a:ext uri="{FF2B5EF4-FFF2-40B4-BE49-F238E27FC236}">
                <a16:creationId xmlns:a16="http://schemas.microsoft.com/office/drawing/2014/main" id="{461787AE-5355-4AEF-86A4-B98CFB1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0075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Handle structured requests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Steer + interrupt turns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Add review/start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Discover models + features</a:t>
            </a:r>
          </a:p>
        </p:txBody>
      </p:sp>
      <p:sp>
        <p:nvSpPr>
          <p:cNvPr id="11" name="s15-dot-1">
            <a:extLst xmlns:a="http://schemas.openxmlformats.org/drawingml/2006/main">
              <a:ext uri="{FF2B5EF4-FFF2-40B4-BE49-F238E27FC236}">
                <a16:creationId xmlns:a16="http://schemas.microsoft.com/office/drawing/2014/main" id="{7D602F85-ECAC-4F12-B17F-2781CF6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5-phase-1">
            <a:extLst xmlns:a="http://schemas.openxmlformats.org/drawingml/2006/main">
              <a:ext uri="{FF2B5EF4-FFF2-40B4-BE49-F238E27FC236}">
                <a16:creationId xmlns:a16="http://schemas.microsoft.com/office/drawing/2014/main" id="{CBF90713-B2D8-4B4A-9025-6BF4B4A7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3" name="s15-title-1">
            <a:extLst xmlns:a="http://schemas.openxmlformats.org/drawingml/2006/main">
              <a:ext uri="{FF2B5EF4-FFF2-40B4-BE49-F238E27FC236}">
                <a16:creationId xmlns:a16="http://schemas.microsoft.com/office/drawing/2014/main" id="{88A4895D-29CA-4C99-B482-EB76F59A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19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 capability visible</a:t>
            </a:r>
          </a:p>
        </p:txBody>
      </p:sp>
      <p:sp>
        <p:nvSpPr>
          <p:cNvPr id="14" name="s15-body-1">
            <a:extLst xmlns:a="http://schemas.openxmlformats.org/drawingml/2006/main">
              <a:ext uri="{FF2B5EF4-FFF2-40B4-BE49-F238E27FC236}">
                <a16:creationId xmlns:a16="http://schemas.microsoft.com/office/drawing/2014/main" id="{284EFA30-92F0-40E9-B03A-5BA68AFC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0075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Inventory skills, MCP, apps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Show status + limits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Support session approvals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Manage terminal lifecycle</a:t>
            </a:r>
          </a:p>
        </p:txBody>
      </p:sp>
      <p:sp>
        <p:nvSpPr>
          <p:cNvPr id="15" name="s15-dot-2">
            <a:extLst xmlns:a="http://schemas.openxmlformats.org/drawingml/2006/main">
              <a:ext uri="{FF2B5EF4-FFF2-40B4-BE49-F238E27FC236}">
                <a16:creationId xmlns:a16="http://schemas.microsoft.com/office/drawing/2014/main" id="{40700A0E-E8A3-48CD-989B-6491CA82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5-phase-2">
            <a:extLst xmlns:a="http://schemas.openxmlformats.org/drawingml/2006/main">
              <a:ext uri="{FF2B5EF4-FFF2-40B4-BE49-F238E27FC236}">
                <a16:creationId xmlns:a16="http://schemas.microsoft.com/office/drawing/2014/main" id="{DB5BAB99-C5EF-412B-B9AA-81CCA5C4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7" name="s15-title-2">
            <a:extLst xmlns:a="http://schemas.openxmlformats.org/drawingml/2006/main">
              <a:ext uri="{FF2B5EF4-FFF2-40B4-BE49-F238E27FC236}">
                <a16:creationId xmlns:a16="http://schemas.microsoft.com/office/drawing/2014/main" id="{FEA1D82A-37E2-4001-BB4E-38E6FE21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 the lifecycle</a:t>
            </a:r>
          </a:p>
        </p:txBody>
      </p:sp>
      <p:sp>
        <p:nvSpPr>
          <p:cNvPr id="18" name="s15-body-2">
            <a:extLst xmlns:a="http://schemas.openxmlformats.org/drawingml/2006/main">
              <a:ext uri="{FF2B5EF4-FFF2-40B4-BE49-F238E27FC236}">
                <a16:creationId xmlns:a16="http://schemas.microsoft.com/office/drawing/2014/main" id="{D63AFFE5-7A1D-4AA8-B01E-24E769F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0075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Fork + compact + manage threads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Worktrees + side threads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Config editor + file watch</a:t>
            </a:r>
          </a:p>
          <a:p xmlns:a="http://schemas.openxmlformats.org/drawingml/2006/main">
            <a:pPr algn="l">
              <a:defRPr sz="142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Plugin management</a:t>
            </a:r>
          </a:p>
        </p:txBody>
      </p:sp>
      <p:sp>
        <p:nvSpPr>
          <p:cNvPr id="19" name="s15-principle">
            <a:extLst xmlns:a="http://schemas.openxmlformats.org/drawingml/2006/main">
              <a:ext uri="{FF2B5EF4-FFF2-40B4-BE49-F238E27FC236}">
                <a16:creationId xmlns:a16="http://schemas.microsoft.com/office/drawing/2014/main" id="{C3D4C2C2-9C8C-4364-B7CE-A526D27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Priority principle: first support protocol flows that currently fail; then make available capability discoverable; finally add advanced lifecycle parity.</a:t>
            </a:r>
          </a:p>
        </p:txBody>
      </p:sp>
    </p:spTree>
    <p:extLst>
      <p:ext uri="{BB962C8B-B14F-4D97-AF65-F5344CB8AC3E}">
        <p14:creationId xmlns:p14="http://schemas.microsoft.com/office/powerpoint/2010/main" val="15490551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-22">
            <a:extLst xmlns:a="http://schemas.openxmlformats.org/drawingml/2006/main">
              <a:ext uri="{FF2B5EF4-FFF2-40B4-BE49-F238E27FC236}">
                <a16:creationId xmlns:a16="http://schemas.microsoft.com/office/drawing/2014/main" id="{0988FB9E-0D6B-470B-AD37-A08E0578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5 · PARITY PLAN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D0105BE9-82FE-41F7-B3BE-F09530F3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to prove capability parity</a:t>
            </a:r>
          </a:p>
        </p:txBody>
      </p:sp>
      <p:sp>
        <p:nvSpPr>
          <p:cNvPr id="3" name="header-rule-22">
            <a:extLst xmlns:a="http://schemas.openxmlformats.org/drawingml/2006/main">
              <a:ext uri="{FF2B5EF4-FFF2-40B4-BE49-F238E27FC236}">
                <a16:creationId xmlns:a16="http://schemas.microsoft.com/office/drawing/2014/main" id="{39F70AB5-3E0F-40A6-AFFC-3521311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22">
            <a:extLst xmlns:a="http://schemas.openxmlformats.org/drawingml/2006/main">
              <a:ext uri="{FF2B5EF4-FFF2-40B4-BE49-F238E27FC236}">
                <a16:creationId xmlns:a16="http://schemas.microsoft.com/office/drawing/2014/main" id="{AB220CCC-7D3E-450E-A7E1-0E4FCFA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  <p:sp>
        <p:nvSpPr>
          <p:cNvPr id="5" name="footer-page-22">
            <a:extLst xmlns:a="http://schemas.openxmlformats.org/drawingml/2006/main">
              <a:ext uri="{FF2B5EF4-FFF2-40B4-BE49-F238E27FC236}">
                <a16:creationId xmlns:a16="http://schemas.microsoft.com/office/drawing/2014/main" id="{C1224A1B-5D72-42B1-8C64-0E28B40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s16-lead">
            <a:extLst xmlns:a="http://schemas.openxmlformats.org/drawingml/2006/main">
              <a:ext uri="{FF2B5EF4-FFF2-40B4-BE49-F238E27FC236}">
                <a16:creationId xmlns:a16="http://schemas.microsoft.com/office/drawing/2014/main" id="{B06DFE7C-504B-4668-98B4-DACC21C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release can claim strong Codex parity when these user-visible tests pass:</a:t>
            </a:r>
          </a:p>
        </p:txBody>
      </p:sp>
      <p:sp>
        <p:nvSpPr>
          <p:cNvPr id="7" name="s16-check-0">
            <a:extLst xmlns:a="http://schemas.openxmlformats.org/drawingml/2006/main">
              <a:ext uri="{FF2B5EF4-FFF2-40B4-BE49-F238E27FC236}">
                <a16:creationId xmlns:a16="http://schemas.microsoft.com/office/drawing/2014/main" id="{4AA275B9-ED94-494C-99CC-2158401B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6-test-0">
            <a:extLst xmlns:a="http://schemas.openxmlformats.org/drawingml/2006/main">
              <a:ext uri="{FF2B5EF4-FFF2-40B4-BE49-F238E27FC236}">
                <a16:creationId xmlns:a16="http://schemas.microsoft.com/office/drawing/2014/main" id="{2F67FC6B-9CF0-46D6-929A-FF8161A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Enumerate current models, reasoning bounds, modalities, personalities, and feature flags.</a:t>
            </a:r>
          </a:p>
        </p:txBody>
      </p:sp>
      <p:sp>
        <p:nvSpPr>
          <p:cNvPr id="9" name="s16-check-1">
            <a:extLst xmlns:a="http://schemas.openxmlformats.org/drawingml/2006/main">
              <a:ext uri="{FF2B5EF4-FFF2-40B4-BE49-F238E27FC236}">
                <a16:creationId xmlns:a16="http://schemas.microsoft.com/office/drawing/2014/main" id="{0E8342E0-FE12-417F-AD61-4398A8C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6-test-1">
            <a:extLst xmlns:a="http://schemas.openxmlformats.org/drawingml/2006/main">
              <a:ext uri="{FF2B5EF4-FFF2-40B4-BE49-F238E27FC236}">
                <a16:creationId xmlns:a16="http://schemas.microsoft.com/office/drawing/2014/main" id="{089149BE-D845-43F6-9509-EA797514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Complete structured questions and MCP form / URL / OAuth elicitation end to end.</a:t>
            </a:r>
          </a:p>
        </p:txBody>
      </p:sp>
      <p:sp>
        <p:nvSpPr>
          <p:cNvPr id="11" name="s16-check-2">
            <a:extLst xmlns:a="http://schemas.openxmlformats.org/drawingml/2006/main">
              <a:ext uri="{FF2B5EF4-FFF2-40B4-BE49-F238E27FC236}">
                <a16:creationId xmlns:a16="http://schemas.microsoft.com/office/drawing/2014/main" id="{6338A95B-3E3F-4170-B376-DA9C61E1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6-test-2">
            <a:extLst xmlns:a="http://schemas.openxmlformats.org/drawingml/2006/main">
              <a:ext uri="{FF2B5EF4-FFF2-40B4-BE49-F238E27FC236}">
                <a16:creationId xmlns:a16="http://schemas.microsoft.com/office/drawing/2014/main" id="{5A303185-5CFB-4875-B008-B10B62F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Steer and interrupt an active turn, with state reflected in the UI.</a:t>
            </a:r>
          </a:p>
        </p:txBody>
      </p:sp>
      <p:sp>
        <p:nvSpPr>
          <p:cNvPr id="13" name="s16-check-3">
            <a:extLst xmlns:a="http://schemas.openxmlformats.org/drawingml/2006/main">
              <a:ext uri="{FF2B5EF4-FFF2-40B4-BE49-F238E27FC236}">
                <a16:creationId xmlns:a16="http://schemas.microsoft.com/office/drawing/2014/main" id="{8E2F17BA-C99E-4A5B-B82D-90B30637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6-test-3">
            <a:extLst xmlns:a="http://schemas.openxmlformats.org/drawingml/2006/main">
              <a:ext uri="{FF2B5EF4-FFF2-40B4-BE49-F238E27FC236}">
                <a16:creationId xmlns:a16="http://schemas.microsoft.com/office/drawing/2014/main" id="{8FE00B4B-DE94-4C6F-AFD9-6D117AAA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List, fork, name, compact, archive, and resume native Codex threads.</a:t>
            </a:r>
          </a:p>
        </p:txBody>
      </p:sp>
      <p:sp>
        <p:nvSpPr>
          <p:cNvPr id="15" name="s16-check-4">
            <a:extLst xmlns:a="http://schemas.openxmlformats.org/drawingml/2006/main">
              <a:ext uri="{FF2B5EF4-FFF2-40B4-BE49-F238E27FC236}">
                <a16:creationId xmlns:a16="http://schemas.microsoft.com/office/drawing/2014/main" id="{4D2EBC32-EAF0-464D-99EB-B644DB8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6-test-4">
            <a:extLst xmlns:a="http://schemas.openxmlformats.org/drawingml/2006/main">
              <a:ext uri="{FF2B5EF4-FFF2-40B4-BE49-F238E27FC236}">
                <a16:creationId xmlns:a16="http://schemas.microsoft.com/office/drawing/2014/main" id="{0236A40C-FE1F-44C6-9DE4-A1834C8B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Launch first-class review targets and operate interactive/background terminals.</a:t>
            </a:r>
          </a:p>
        </p:txBody>
      </p:sp>
      <p:sp>
        <p:nvSpPr>
          <p:cNvPr id="17" name="s16-check-5">
            <a:extLst xmlns:a="http://schemas.openxmlformats.org/drawingml/2006/main">
              <a:ext uri="{FF2B5EF4-FFF2-40B4-BE49-F238E27FC236}">
                <a16:creationId xmlns:a16="http://schemas.microsoft.com/office/drawing/2014/main" id="{B215818D-6061-4C9D-87DD-F4F02A05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6-test-5">
            <a:extLst xmlns:a="http://schemas.openxmlformats.org/drawingml/2006/main">
              <a:ext uri="{FF2B5EF4-FFF2-40B4-BE49-F238E27FC236}">
                <a16:creationId xmlns:a16="http://schemas.microsoft.com/office/drawing/2014/main" id="{A340CB9D-DB6A-48E6-8854-6C30BB9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Show skills, MCP servers, apps, hooks, status, limits, and their error states.</a:t>
            </a:r>
          </a:p>
        </p:txBody>
      </p:sp>
      <p:sp>
        <p:nvSpPr>
          <p:cNvPr id="19" name="s16-check-6">
            <a:extLst xmlns:a="http://schemas.openxmlformats.org/drawingml/2006/main">
              <a:ext uri="{FF2B5EF4-FFF2-40B4-BE49-F238E27FC236}">
                <a16:creationId xmlns:a16="http://schemas.microsoft.com/office/drawing/2014/main" id="{704D101D-1578-49AC-B369-F66603E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6-test-6">
            <a:extLst xmlns:a="http://schemas.openxmlformats.org/drawingml/2006/main">
              <a:ext uri="{FF2B5EF4-FFF2-40B4-BE49-F238E27FC236}">
                <a16:creationId xmlns:a16="http://schemas.microsoft.com/office/drawing/2014/main" id="{36D79F2A-B641-4E9F-93DE-ED25F30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Verify subagent creation, switching, progress, and stopping—not just generic activity.</a:t>
            </a:r>
          </a:p>
        </p:txBody>
      </p:sp>
      <p:sp>
        <p:nvSpPr>
          <p:cNvPr id="21" name="s16-check-7">
            <a:extLst xmlns:a="http://schemas.openxmlformats.org/drawingml/2006/main">
              <a:ext uri="{FF2B5EF4-FFF2-40B4-BE49-F238E27FC236}">
                <a16:creationId xmlns:a16="http://schemas.microsoft.com/office/drawing/2014/main" id="{3944C225-9104-463B-9995-4B9A81BA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6-test-7">
            <a:extLst xmlns:a="http://schemas.openxmlformats.org/drawingml/2006/main">
              <a:ext uri="{FF2B5EF4-FFF2-40B4-BE49-F238E27FC236}">
                <a16:creationId xmlns:a16="http://schemas.microsoft.com/office/drawing/2014/main" id="{53D28C20-E706-4567-9B42-49CFEDD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5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3"/>
                </a:solidFill>
                <a:latin typeface="Arial"/>
                <a:ea typeface="Arial"/>
                <a:cs typeface="Arial"/>
              </a:rPr>
              <a:t>Explain network and isolated-profile restrictions without calling the model weaker.</a:t>
            </a:r>
          </a:p>
        </p:txBody>
      </p:sp>
      <p:sp>
        <p:nvSpPr>
          <p:cNvPr id="23" name="s16-close-bg">
            <a:extLst xmlns:a="http://schemas.openxmlformats.org/drawingml/2006/main">
              <a:ext uri="{FF2B5EF4-FFF2-40B4-BE49-F238E27FC236}">
                <a16:creationId xmlns:a16="http://schemas.microsoft.com/office/drawing/2014/main" id="{449E1E3E-4D37-4AE8-B468-77FCD0E6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6-close">
            <a:extLst xmlns:a="http://schemas.openxmlformats.org/drawingml/2006/main">
              <a:ext uri="{FF2B5EF4-FFF2-40B4-BE49-F238E27FC236}">
                <a16:creationId xmlns:a16="http://schemas.microsoft.com/office/drawing/2014/main" id="{6C50B18B-0AB3-4597-A50B-5B822F7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Recommendation: treat Codex as a platform integration, not only a prompt-and-response backend.</a:t>
            </a:r>
          </a:p>
        </p:txBody>
      </p:sp>
      <p:sp>
        <p:nvSpPr>
          <p:cNvPr id="25" name="eyebrow-front-22">
            <a:extLst xmlns:a="http://schemas.openxmlformats.org/drawingml/2006/main">
              <a:ext uri="{FF2B5EF4-FFF2-40B4-BE49-F238E27FC236}">
                <a16:creationId xmlns:a16="http://schemas.microsoft.com/office/drawing/2014/main" id="{0E19C5E4-3EEE-4299-8E65-199BD5B5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GROUP 5 · PARITY PLAN</a:t>
            </a:r>
          </a:p>
        </p:txBody>
      </p:sp>
      <p:sp>
        <p:nvSpPr>
          <p:cNvPr id="26" name="header-rule-front-22">
            <a:extLst xmlns:a="http://schemas.openxmlformats.org/drawingml/2006/main">
              <a:ext uri="{FF2B5EF4-FFF2-40B4-BE49-F238E27FC236}">
                <a16:creationId xmlns:a16="http://schemas.microsoft.com/office/drawing/2014/main" id="{9C929347-4878-4384-A491-D34AF7A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section-front-22">
            <a:extLst xmlns:a="http://schemas.openxmlformats.org/drawingml/2006/main">
              <a:ext uri="{FF2B5EF4-FFF2-40B4-BE49-F238E27FC236}">
                <a16:creationId xmlns:a16="http://schemas.microsoft.com/office/drawing/2014/main" id="{1BBFE9D0-85D8-47F9-B597-57F6280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858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58E"/>
                </a:solidFill>
                <a:latin typeface="Arial"/>
                <a:ea typeface="Arial"/>
                <a:cs typeface="Arial"/>
              </a:rPr>
              <a:t>CAPABILITY PARITY AUDIT</a:t>
            </a:r>
          </a:p>
        </p:txBody>
      </p:sp>
    </p:spTree>
    <p:extLst>
      <p:ext uri="{BB962C8B-B14F-4D97-AF65-F5344CB8AC3E}">
        <p14:creationId xmlns:p14="http://schemas.microsoft.com/office/powerpoint/2010/main" val="1356375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2026-08-19T19:20:04.8460000Z</dcterms:created>
  <dcterms:modified xsi:type="dcterms:W3CDTF">2026-08-19T19:20:04.8460000Z</dcterms:modified>
</coreProperties>
</file>